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64" r:id="rId2"/>
  </p:sldMasterIdLst>
  <p:notesMasterIdLst>
    <p:notesMasterId r:id="rId4"/>
  </p:notesMasterIdLst>
  <p:sldIdLst>
    <p:sldId id="257" r:id="rId3"/>
  </p:sldIdLst>
  <p:sldSz cx="32918400" cy="19202400"/>
  <p:notesSz cx="6858000" cy="9144000"/>
  <p:defaultTextStyle>
    <a:defPPr>
      <a:defRPr lang="en-US"/>
    </a:defPPr>
    <a:lvl1pPr marL="0" algn="l" defTabSz="3134552" rtl="0" eaLnBrk="1" latinLnBrk="0" hangingPunct="1">
      <a:defRPr sz="6100" kern="1200">
        <a:solidFill>
          <a:schemeClr val="tx1"/>
        </a:solidFill>
        <a:latin typeface="+mn-lt"/>
        <a:ea typeface="+mn-ea"/>
        <a:cs typeface="+mn-cs"/>
      </a:defRPr>
    </a:lvl1pPr>
    <a:lvl2pPr marL="1567277" algn="l" defTabSz="3134552" rtl="0" eaLnBrk="1" latinLnBrk="0" hangingPunct="1">
      <a:defRPr sz="6100" kern="1200">
        <a:solidFill>
          <a:schemeClr val="tx1"/>
        </a:solidFill>
        <a:latin typeface="+mn-lt"/>
        <a:ea typeface="+mn-ea"/>
        <a:cs typeface="+mn-cs"/>
      </a:defRPr>
    </a:lvl2pPr>
    <a:lvl3pPr marL="3134552" algn="l" defTabSz="3134552" rtl="0" eaLnBrk="1" latinLnBrk="0" hangingPunct="1">
      <a:defRPr sz="6100" kern="1200">
        <a:solidFill>
          <a:schemeClr val="tx1"/>
        </a:solidFill>
        <a:latin typeface="+mn-lt"/>
        <a:ea typeface="+mn-ea"/>
        <a:cs typeface="+mn-cs"/>
      </a:defRPr>
    </a:lvl3pPr>
    <a:lvl4pPr marL="4701829" algn="l" defTabSz="3134552" rtl="0" eaLnBrk="1" latinLnBrk="0" hangingPunct="1">
      <a:defRPr sz="6100" kern="1200">
        <a:solidFill>
          <a:schemeClr val="tx1"/>
        </a:solidFill>
        <a:latin typeface="+mn-lt"/>
        <a:ea typeface="+mn-ea"/>
        <a:cs typeface="+mn-cs"/>
      </a:defRPr>
    </a:lvl4pPr>
    <a:lvl5pPr marL="6269105" algn="l" defTabSz="3134552" rtl="0" eaLnBrk="1" latinLnBrk="0" hangingPunct="1">
      <a:defRPr sz="6100" kern="1200">
        <a:solidFill>
          <a:schemeClr val="tx1"/>
        </a:solidFill>
        <a:latin typeface="+mn-lt"/>
        <a:ea typeface="+mn-ea"/>
        <a:cs typeface="+mn-cs"/>
      </a:defRPr>
    </a:lvl5pPr>
    <a:lvl6pPr marL="7836382" algn="l" defTabSz="3134552" rtl="0" eaLnBrk="1" latinLnBrk="0" hangingPunct="1">
      <a:defRPr sz="6100" kern="1200">
        <a:solidFill>
          <a:schemeClr val="tx1"/>
        </a:solidFill>
        <a:latin typeface="+mn-lt"/>
        <a:ea typeface="+mn-ea"/>
        <a:cs typeface="+mn-cs"/>
      </a:defRPr>
    </a:lvl6pPr>
    <a:lvl7pPr marL="9403659" algn="l" defTabSz="3134552" rtl="0" eaLnBrk="1" latinLnBrk="0" hangingPunct="1">
      <a:defRPr sz="6100" kern="1200">
        <a:solidFill>
          <a:schemeClr val="tx1"/>
        </a:solidFill>
        <a:latin typeface="+mn-lt"/>
        <a:ea typeface="+mn-ea"/>
        <a:cs typeface="+mn-cs"/>
      </a:defRPr>
    </a:lvl7pPr>
    <a:lvl8pPr marL="10970935" algn="l" defTabSz="3134552" rtl="0" eaLnBrk="1" latinLnBrk="0" hangingPunct="1">
      <a:defRPr sz="6100" kern="1200">
        <a:solidFill>
          <a:schemeClr val="tx1"/>
        </a:solidFill>
        <a:latin typeface="+mn-lt"/>
        <a:ea typeface="+mn-ea"/>
        <a:cs typeface="+mn-cs"/>
      </a:defRPr>
    </a:lvl8pPr>
    <a:lvl9pPr marL="12538212" algn="l" defTabSz="3134552" rtl="0" eaLnBrk="1" latinLnBrk="0" hangingPunct="1">
      <a:defRPr sz="6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36">
          <p15:clr>
            <a:srgbClr val="A4A3A4"/>
          </p15:clr>
        </p15:guide>
        <p15:guide id="2" orient="horz" pos="168">
          <p15:clr>
            <a:srgbClr val="A4A3A4"/>
          </p15:clr>
        </p15:guide>
        <p15:guide id="3" orient="horz" pos="11616" userDrawn="1">
          <p15:clr>
            <a:srgbClr val="A4A3A4"/>
          </p15:clr>
        </p15:guide>
        <p15:guide id="4" orient="horz">
          <p15:clr>
            <a:srgbClr val="A4A3A4"/>
          </p15:clr>
        </p15:guide>
        <p15:guide id="5" pos="436">
          <p15:clr>
            <a:srgbClr val="A4A3A4"/>
          </p15:clr>
        </p15:guide>
        <p15:guide id="6" pos="203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81" autoAdjust="0"/>
    <p:restoredTop sz="94648" autoAdjust="0"/>
  </p:normalViewPr>
  <p:slideViewPr>
    <p:cSldViewPr snapToGrid="0" snapToObjects="1" showGuides="1">
      <p:cViewPr varScale="1">
        <p:scale>
          <a:sx n="56" d="100"/>
          <a:sy n="56" d="100"/>
        </p:scale>
        <p:origin x="916" y="88"/>
      </p:cViewPr>
      <p:guideLst>
        <p:guide orient="horz" pos="1936"/>
        <p:guide orient="horz" pos="168"/>
        <p:guide orient="horz" pos="11616"/>
        <p:guide orient="horz"/>
        <p:guide pos="436"/>
        <p:guide pos="2030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77" d="100"/>
          <a:sy n="77" d="100"/>
        </p:scale>
        <p:origin x="-31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notesMaster" Target="notesMasters/notesMaster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10/27/2026</a:t>
            </a:fld>
            <a:endParaRPr lang="en-US" dirty="0"/>
          </a:p>
        </p:txBody>
      </p:sp>
      <p:sp>
        <p:nvSpPr>
          <p:cNvPr id="4" name="Slide Image Placeholder 3"/>
          <p:cNvSpPr>
            <a:spLocks noGrp="1" noRot="1" noChangeAspect="1"/>
          </p:cNvSpPr>
          <p:nvPr>
            <p:ph type="sldImg" idx="2"/>
          </p:nvPr>
        </p:nvSpPr>
        <p:spPr>
          <a:xfrm>
            <a:off x="490538" y="685800"/>
            <a:ext cx="58769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404021828"/>
      </p:ext>
    </p:extLst>
  </p:cSld>
  <p:clrMap bg1="lt1" tx1="dk1" bg2="lt2" tx2="dk2" accent1="accent1" accent2="accent2" accent3="accent3" accent4="accent4" accent5="accent5" accent6="accent6" hlink="hlink" folHlink="folHlink"/>
  <p:notesStyle>
    <a:lvl1pPr marL="0" algn="l" defTabSz="3134552" rtl="0" eaLnBrk="1" latinLnBrk="0" hangingPunct="1">
      <a:defRPr sz="4100" kern="1200">
        <a:solidFill>
          <a:schemeClr val="tx1"/>
        </a:solidFill>
        <a:latin typeface="+mn-lt"/>
        <a:ea typeface="+mn-ea"/>
        <a:cs typeface="+mn-cs"/>
      </a:defRPr>
    </a:lvl1pPr>
    <a:lvl2pPr marL="1567277" algn="l" defTabSz="3134552" rtl="0" eaLnBrk="1" latinLnBrk="0" hangingPunct="1">
      <a:defRPr sz="4100" kern="1200">
        <a:solidFill>
          <a:schemeClr val="tx1"/>
        </a:solidFill>
        <a:latin typeface="+mn-lt"/>
        <a:ea typeface="+mn-ea"/>
        <a:cs typeface="+mn-cs"/>
      </a:defRPr>
    </a:lvl2pPr>
    <a:lvl3pPr marL="3134552" algn="l" defTabSz="3134552" rtl="0" eaLnBrk="1" latinLnBrk="0" hangingPunct="1">
      <a:defRPr sz="4100" kern="1200">
        <a:solidFill>
          <a:schemeClr val="tx1"/>
        </a:solidFill>
        <a:latin typeface="+mn-lt"/>
        <a:ea typeface="+mn-ea"/>
        <a:cs typeface="+mn-cs"/>
      </a:defRPr>
    </a:lvl3pPr>
    <a:lvl4pPr marL="4701829" algn="l" defTabSz="3134552" rtl="0" eaLnBrk="1" latinLnBrk="0" hangingPunct="1">
      <a:defRPr sz="4100" kern="1200">
        <a:solidFill>
          <a:schemeClr val="tx1"/>
        </a:solidFill>
        <a:latin typeface="+mn-lt"/>
        <a:ea typeface="+mn-ea"/>
        <a:cs typeface="+mn-cs"/>
      </a:defRPr>
    </a:lvl4pPr>
    <a:lvl5pPr marL="6269105" algn="l" defTabSz="3134552" rtl="0" eaLnBrk="1" latinLnBrk="0" hangingPunct="1">
      <a:defRPr sz="4100" kern="1200">
        <a:solidFill>
          <a:schemeClr val="tx1"/>
        </a:solidFill>
        <a:latin typeface="+mn-lt"/>
        <a:ea typeface="+mn-ea"/>
        <a:cs typeface="+mn-cs"/>
      </a:defRPr>
    </a:lvl5pPr>
    <a:lvl6pPr marL="7836382" algn="l" defTabSz="3134552" rtl="0" eaLnBrk="1" latinLnBrk="0" hangingPunct="1">
      <a:defRPr sz="4100" kern="1200">
        <a:solidFill>
          <a:schemeClr val="tx1"/>
        </a:solidFill>
        <a:latin typeface="+mn-lt"/>
        <a:ea typeface="+mn-ea"/>
        <a:cs typeface="+mn-cs"/>
      </a:defRPr>
    </a:lvl6pPr>
    <a:lvl7pPr marL="9403659" algn="l" defTabSz="3134552" rtl="0" eaLnBrk="1" latinLnBrk="0" hangingPunct="1">
      <a:defRPr sz="4100" kern="1200">
        <a:solidFill>
          <a:schemeClr val="tx1"/>
        </a:solidFill>
        <a:latin typeface="+mn-lt"/>
        <a:ea typeface="+mn-ea"/>
        <a:cs typeface="+mn-cs"/>
      </a:defRPr>
    </a:lvl7pPr>
    <a:lvl8pPr marL="10970935" algn="l" defTabSz="3134552" rtl="0" eaLnBrk="1" latinLnBrk="0" hangingPunct="1">
      <a:defRPr sz="4100" kern="1200">
        <a:solidFill>
          <a:schemeClr val="tx1"/>
        </a:solidFill>
        <a:latin typeface="+mn-lt"/>
        <a:ea typeface="+mn-ea"/>
        <a:cs typeface="+mn-cs"/>
      </a:defRPr>
    </a:lvl8pPr>
    <a:lvl9pPr marL="12538212" algn="l" defTabSz="3134552" rtl="0" eaLnBrk="1" latinLnBrk="0" hangingPunct="1">
      <a:defRPr sz="4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2x72 template -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78140" y="4143719"/>
            <a:ext cx="10193458"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91754" y="3679114"/>
            <a:ext cx="10179845"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91754" y="10573497"/>
            <a:ext cx="10194648"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706560" y="10096874"/>
            <a:ext cx="10179844"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OBJECTIVES</a:t>
            </a:r>
          </a:p>
        </p:txBody>
      </p:sp>
      <p:sp>
        <p:nvSpPr>
          <p:cNvPr id="21" name="Text Placeholder 3"/>
          <p:cNvSpPr>
            <a:spLocks noGrp="1"/>
          </p:cNvSpPr>
          <p:nvPr>
            <p:ph type="body" sz="quarter" idx="21" hasCustomPrompt="1"/>
          </p:nvPr>
        </p:nvSpPr>
        <p:spPr>
          <a:xfrm>
            <a:off x="11365708" y="12530349"/>
            <a:ext cx="10178651"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365708" y="12039627"/>
            <a:ext cx="10178651"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1371662" y="4148349"/>
            <a:ext cx="10178651" cy="545148"/>
          </a:xfrm>
          <a:prstGeom prst="rect">
            <a:avLst/>
          </a:prstGeom>
        </p:spPr>
        <p:txBody>
          <a:bodyPr wrap="square" lIns="163258" tIns="163258" rIns="163258" bIns="163258" anchor="t" anchorCtr="0">
            <a:spAutoFit/>
          </a:bodyPr>
          <a:lstStyle>
            <a:lvl1pPr marL="0" indent="0">
              <a:buNone/>
              <a:tabLst/>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1365708" y="3679114"/>
            <a:ext cx="10184606"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RESULTS</a:t>
            </a:r>
          </a:p>
        </p:txBody>
      </p:sp>
      <p:sp>
        <p:nvSpPr>
          <p:cNvPr id="25" name="Text Placeholder 5"/>
          <p:cNvSpPr>
            <a:spLocks noGrp="1"/>
          </p:cNvSpPr>
          <p:nvPr>
            <p:ph type="body" sz="quarter" idx="25" hasCustomPrompt="1"/>
          </p:nvPr>
        </p:nvSpPr>
        <p:spPr>
          <a:xfrm>
            <a:off x="22046806" y="3679114"/>
            <a:ext cx="10182022"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CONCLUSIONS</a:t>
            </a:r>
          </a:p>
        </p:txBody>
      </p:sp>
      <p:sp>
        <p:nvSpPr>
          <p:cNvPr id="26" name="Text Placeholder 3"/>
          <p:cNvSpPr>
            <a:spLocks noGrp="1"/>
          </p:cNvSpPr>
          <p:nvPr>
            <p:ph type="body" sz="quarter" idx="26" hasCustomPrompt="1"/>
          </p:nvPr>
        </p:nvSpPr>
        <p:spPr>
          <a:xfrm>
            <a:off x="22046806" y="4143719"/>
            <a:ext cx="10182022"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2046806" y="10078145"/>
            <a:ext cx="10182022"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REFERENCES</a:t>
            </a:r>
          </a:p>
        </p:txBody>
      </p:sp>
      <p:sp>
        <p:nvSpPr>
          <p:cNvPr id="28" name="Text Placeholder 3"/>
          <p:cNvSpPr>
            <a:spLocks noGrp="1"/>
          </p:cNvSpPr>
          <p:nvPr>
            <p:ph type="body" sz="quarter" idx="28" hasCustomPrompt="1"/>
          </p:nvPr>
        </p:nvSpPr>
        <p:spPr>
          <a:xfrm>
            <a:off x="22043033" y="10598897"/>
            <a:ext cx="10185796" cy="545148"/>
          </a:xfrm>
          <a:prstGeom prst="rect">
            <a:avLst/>
          </a:prstGeom>
        </p:spPr>
        <p:txBody>
          <a:bodyPr wrap="square" lIns="163258" tIns="163258" rIns="163258" bIns="163258" anchor="t" anchorCtr="0">
            <a:spAutoFit/>
          </a:bodyPr>
          <a:lstStyle>
            <a:lvl1pPr marL="0" indent="0">
              <a:buNone/>
              <a:tabLst/>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2046806" y="15018123"/>
            <a:ext cx="10182022"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2046807" y="15513476"/>
            <a:ext cx="10185796"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63" name="Text Placeholder 76"/>
          <p:cNvSpPr>
            <a:spLocks noGrp="1"/>
          </p:cNvSpPr>
          <p:nvPr>
            <p:ph type="body" sz="quarter" idx="161" hasCustomPrompt="1"/>
          </p:nvPr>
        </p:nvSpPr>
        <p:spPr>
          <a:xfrm>
            <a:off x="4400134" y="1119276"/>
            <a:ext cx="24109797" cy="523220"/>
          </a:xfrm>
          <a:prstGeom prst="rect">
            <a:avLst/>
          </a:prstGeom>
        </p:spPr>
        <p:txBody>
          <a:bodyPr anchor="t" anchorCtr="0">
            <a:spAutoFit/>
          </a:bodyPr>
          <a:lstStyle>
            <a:lvl1pPr marL="0" indent="0" algn="ctr">
              <a:buFontTx/>
              <a:buNone/>
              <a:defRPr sz="28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4" name="Text Placeholder 76"/>
          <p:cNvSpPr>
            <a:spLocks noGrp="1"/>
          </p:cNvSpPr>
          <p:nvPr>
            <p:ph type="body" sz="quarter" idx="195" hasCustomPrompt="1"/>
          </p:nvPr>
        </p:nvSpPr>
        <p:spPr>
          <a:xfrm>
            <a:off x="4406950" y="1780047"/>
            <a:ext cx="24109797" cy="400110"/>
          </a:xfrm>
          <a:prstGeom prst="rect">
            <a:avLst/>
          </a:prstGeom>
        </p:spPr>
        <p:txBody>
          <a:bodyPr anchor="t" anchorCtr="0">
            <a:spAutoFit/>
          </a:bodyPr>
          <a:lstStyle>
            <a:lvl1pPr marL="0" indent="0" algn="ctr">
              <a:buFontTx/>
              <a:buNone/>
              <a:defRPr sz="20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96" hasCustomPrompt="1"/>
          </p:nvPr>
        </p:nvSpPr>
        <p:spPr>
          <a:xfrm>
            <a:off x="4406950" y="273839"/>
            <a:ext cx="24109797" cy="707886"/>
          </a:xfrm>
          <a:prstGeom prst="rect">
            <a:avLst/>
          </a:prstGeom>
        </p:spPr>
        <p:txBody>
          <a:bodyPr anchor="t" anchorCtr="0">
            <a:spAutoFit/>
          </a:bodyPr>
          <a:lstStyle>
            <a:lvl1pPr marL="0" indent="0" algn="ctr">
              <a:buFontTx/>
              <a:buNone/>
              <a:defRPr sz="40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823460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42x72 template - 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78141" y="4018056"/>
            <a:ext cx="7542610"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691756" y="3577514"/>
            <a:ext cx="7536656" cy="408882"/>
          </a:xfrm>
          <a:prstGeom prst="rect">
            <a:avLst/>
          </a:prstGeom>
          <a:solidFill>
            <a:schemeClr val="accent5">
              <a:lumMod val="50000"/>
            </a:schemeClr>
          </a:solidFill>
        </p:spPr>
        <p:txBody>
          <a:bodyPr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91755" y="8825780"/>
            <a:ext cx="7528993"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691755" y="8329105"/>
            <a:ext cx="7537845"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OBJECTIVES</a:t>
            </a:r>
          </a:p>
        </p:txBody>
      </p:sp>
      <p:sp>
        <p:nvSpPr>
          <p:cNvPr id="21" name="Text Placeholder 3"/>
          <p:cNvSpPr>
            <a:spLocks noGrp="1"/>
          </p:cNvSpPr>
          <p:nvPr>
            <p:ph type="body" sz="quarter" idx="21" hasCustomPrompt="1"/>
          </p:nvPr>
        </p:nvSpPr>
        <p:spPr>
          <a:xfrm>
            <a:off x="8696187" y="4037488"/>
            <a:ext cx="15540037"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8696187" y="3577514"/>
            <a:ext cx="15540038"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8696187" y="12796679"/>
            <a:ext cx="15540038"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8696187" y="12332075"/>
            <a:ext cx="15540038"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RESULTS</a:t>
            </a:r>
          </a:p>
        </p:txBody>
      </p:sp>
      <p:sp>
        <p:nvSpPr>
          <p:cNvPr id="25" name="Text Placeholder 5"/>
          <p:cNvSpPr>
            <a:spLocks noGrp="1"/>
          </p:cNvSpPr>
          <p:nvPr>
            <p:ph type="body" sz="quarter" idx="25" hasCustomPrompt="1"/>
          </p:nvPr>
        </p:nvSpPr>
        <p:spPr>
          <a:xfrm>
            <a:off x="24715629" y="3577514"/>
            <a:ext cx="7535264"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CONCLUSIONS</a:t>
            </a:r>
          </a:p>
        </p:txBody>
      </p:sp>
      <p:sp>
        <p:nvSpPr>
          <p:cNvPr id="26" name="Text Placeholder 3"/>
          <p:cNvSpPr>
            <a:spLocks noGrp="1"/>
          </p:cNvSpPr>
          <p:nvPr>
            <p:ph type="body" sz="quarter" idx="26" hasCustomPrompt="1"/>
          </p:nvPr>
        </p:nvSpPr>
        <p:spPr>
          <a:xfrm>
            <a:off x="24715629" y="4042119"/>
            <a:ext cx="7535264"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4715629" y="8364237"/>
            <a:ext cx="7535264"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REFERENCES</a:t>
            </a:r>
          </a:p>
        </p:txBody>
      </p:sp>
      <p:sp>
        <p:nvSpPr>
          <p:cNvPr id="28" name="Text Placeholder 3"/>
          <p:cNvSpPr>
            <a:spLocks noGrp="1"/>
          </p:cNvSpPr>
          <p:nvPr>
            <p:ph type="body" sz="quarter" idx="28" hasCustomPrompt="1"/>
          </p:nvPr>
        </p:nvSpPr>
        <p:spPr>
          <a:xfrm>
            <a:off x="24713742" y="8828841"/>
            <a:ext cx="7539038"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4715629" y="15018123"/>
            <a:ext cx="7535264" cy="408882"/>
          </a:xfrm>
          <a:prstGeom prst="rect">
            <a:avLst/>
          </a:prstGeom>
          <a:solidFill>
            <a:schemeClr val="accent5">
              <a:lumMod val="50000"/>
            </a:schemeClr>
          </a:solidFill>
        </p:spPr>
        <p:txBody>
          <a:bodyPr wrap="square" lIns="65304" tIns="65304" rIns="65304" bIns="65304" anchor="t" anchorCtr="0">
            <a:spAutoFit/>
          </a:bodyPr>
          <a:lstStyle>
            <a:lvl1pPr marL="0" indent="0" algn="ctr">
              <a:buNone/>
              <a:defRPr sz="1800" b="1" u="none" baseline="0">
                <a:solidFill>
                  <a:schemeClr val="bg1"/>
                </a:solidFill>
                <a:latin typeface="Century Gothic" panose="020B0502020202020204" pitchFamily="34" charset="0"/>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4713742" y="15486960"/>
            <a:ext cx="7539038" cy="545148"/>
          </a:xfrm>
          <a:prstGeom prst="rect">
            <a:avLst/>
          </a:prstGeom>
        </p:spPr>
        <p:txBody>
          <a:bodyPr wrap="square" lIns="163258" tIns="163258" rIns="163258" bIns="163258" anchor="t" anchorCtr="0">
            <a:spAutoFit/>
          </a:bodyPr>
          <a:lstStyle>
            <a:lvl1pPr marL="0" indent="0">
              <a:buNone/>
              <a:defRPr sz="1400">
                <a:solidFill>
                  <a:schemeClr val="accent5">
                    <a:lumMod val="50000"/>
                  </a:schemeClr>
                </a:solidFill>
                <a:latin typeface="Century Gothic" panose="020B0502020202020204" pitchFamily="34"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73" name="Text Placeholder 76"/>
          <p:cNvSpPr>
            <a:spLocks noGrp="1"/>
          </p:cNvSpPr>
          <p:nvPr>
            <p:ph type="body" sz="quarter" idx="161" hasCustomPrompt="1"/>
          </p:nvPr>
        </p:nvSpPr>
        <p:spPr>
          <a:xfrm>
            <a:off x="4406950" y="1151923"/>
            <a:ext cx="24109797" cy="523220"/>
          </a:xfrm>
          <a:prstGeom prst="rect">
            <a:avLst/>
          </a:prstGeom>
        </p:spPr>
        <p:txBody>
          <a:bodyPr anchor="t" anchorCtr="0">
            <a:spAutoFit/>
          </a:bodyPr>
          <a:lstStyle>
            <a:lvl1pPr marL="0" indent="0" algn="ctr">
              <a:buFontTx/>
              <a:buNone/>
              <a:defRPr sz="28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4" name="Text Placeholder 76"/>
          <p:cNvSpPr>
            <a:spLocks noGrp="1"/>
          </p:cNvSpPr>
          <p:nvPr>
            <p:ph type="body" sz="quarter" idx="195" hasCustomPrompt="1"/>
          </p:nvPr>
        </p:nvSpPr>
        <p:spPr>
          <a:xfrm>
            <a:off x="4411306" y="1851156"/>
            <a:ext cx="24109797" cy="400110"/>
          </a:xfrm>
          <a:prstGeom prst="rect">
            <a:avLst/>
          </a:prstGeom>
        </p:spPr>
        <p:txBody>
          <a:bodyPr anchor="t" anchorCtr="0">
            <a:spAutoFit/>
          </a:bodyPr>
          <a:lstStyle>
            <a:lvl1pPr marL="0" indent="0" algn="ctr">
              <a:buFontTx/>
              <a:buNone/>
              <a:defRPr sz="20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5" name="Text Placeholder 76"/>
          <p:cNvSpPr>
            <a:spLocks noGrp="1"/>
          </p:cNvSpPr>
          <p:nvPr>
            <p:ph type="body" sz="quarter" idx="196" hasCustomPrompt="1"/>
          </p:nvPr>
        </p:nvSpPr>
        <p:spPr>
          <a:xfrm>
            <a:off x="4409128" y="273839"/>
            <a:ext cx="24109797" cy="707886"/>
          </a:xfrm>
          <a:prstGeom prst="rect">
            <a:avLst/>
          </a:prstGeom>
        </p:spPr>
        <p:txBody>
          <a:bodyPr anchor="t" anchorCtr="0">
            <a:spAutoFit/>
          </a:bodyPr>
          <a:lstStyle>
            <a:lvl1pPr marL="0" indent="0" algn="ctr">
              <a:buFontTx/>
              <a:buNone/>
              <a:defRPr sz="40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13748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out guides -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78140" y="3574759"/>
            <a:ext cx="10193458"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91754" y="3110154"/>
            <a:ext cx="10179845"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91754" y="10573497"/>
            <a:ext cx="10194648"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706560" y="10096874"/>
            <a:ext cx="10179844"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365708" y="12530349"/>
            <a:ext cx="10178651"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365708" y="12039627"/>
            <a:ext cx="10178651"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1371662" y="3579389"/>
            <a:ext cx="10178651" cy="545148"/>
          </a:xfrm>
          <a:prstGeom prst="rect">
            <a:avLst/>
          </a:prstGeom>
        </p:spPr>
        <p:txBody>
          <a:bodyPr wrap="square" lIns="163258" tIns="163258" rIns="163258" bIns="163258">
            <a:spAutoFit/>
          </a:bodyPr>
          <a:lstStyle>
            <a:lvl1pPr marL="0" indent="0">
              <a:buNone/>
              <a:tabLst/>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1365708" y="3110154"/>
            <a:ext cx="10184606"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2046806" y="3110154"/>
            <a:ext cx="10182022"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2046806" y="3574759"/>
            <a:ext cx="10182022"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2046806" y="10078145"/>
            <a:ext cx="10182022"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2043033" y="10598897"/>
            <a:ext cx="10185796" cy="545148"/>
          </a:xfrm>
          <a:prstGeom prst="rect">
            <a:avLst/>
          </a:prstGeom>
        </p:spPr>
        <p:txBody>
          <a:bodyPr wrap="square" lIns="163258" tIns="163258" rIns="163258" bIns="163258">
            <a:spAutoFit/>
          </a:bodyPr>
          <a:lstStyle>
            <a:lvl1pPr marL="0" indent="0">
              <a:buNone/>
              <a:tabLst/>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2046806" y="15018123"/>
            <a:ext cx="10182022"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2046807" y="15513476"/>
            <a:ext cx="10185796"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Type in or paste your text here</a:t>
            </a:r>
          </a:p>
        </p:txBody>
      </p:sp>
      <p:sp>
        <p:nvSpPr>
          <p:cNvPr id="63" name="Text Placeholder 76"/>
          <p:cNvSpPr>
            <a:spLocks noGrp="1"/>
          </p:cNvSpPr>
          <p:nvPr>
            <p:ph type="body" sz="quarter" idx="161" hasCustomPrompt="1"/>
          </p:nvPr>
        </p:nvSpPr>
        <p:spPr>
          <a:xfrm>
            <a:off x="4406950" y="1366762"/>
            <a:ext cx="24109797" cy="766837"/>
          </a:xfrm>
          <a:prstGeom prst="rect">
            <a:avLst/>
          </a:prstGeom>
        </p:spPr>
        <p:txBody>
          <a:bodyPr>
            <a:normAutofit/>
          </a:bodyPr>
          <a:lstStyle>
            <a:lvl1pPr marL="0" indent="0" algn="ctr">
              <a:buFontTx/>
              <a:buNone/>
              <a:defRPr sz="44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4" name="Text Placeholder 76"/>
          <p:cNvSpPr>
            <a:spLocks noGrp="1"/>
          </p:cNvSpPr>
          <p:nvPr>
            <p:ph type="body" sz="quarter" idx="195" hasCustomPrompt="1"/>
          </p:nvPr>
        </p:nvSpPr>
        <p:spPr>
          <a:xfrm>
            <a:off x="4406950" y="2137990"/>
            <a:ext cx="24109797" cy="634555"/>
          </a:xfrm>
          <a:prstGeom prst="rect">
            <a:avLst/>
          </a:prstGeom>
        </p:spPr>
        <p:txBody>
          <a:bodyPr>
            <a:normAutofit/>
          </a:bodyPr>
          <a:lstStyle>
            <a:lvl1pPr marL="0" indent="0" algn="ctr">
              <a:buFontTx/>
              <a:buNone/>
              <a:defRPr sz="36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96" hasCustomPrompt="1"/>
          </p:nvPr>
        </p:nvSpPr>
        <p:spPr>
          <a:xfrm>
            <a:off x="4406950" y="273839"/>
            <a:ext cx="24109797" cy="1092924"/>
          </a:xfrm>
          <a:prstGeom prst="rect">
            <a:avLst/>
          </a:prstGeom>
        </p:spPr>
        <p:txBody>
          <a:bodyPr>
            <a:normAutofit/>
          </a:bodyPr>
          <a:lstStyle>
            <a:lvl1pPr marL="0" indent="0" algn="ctr">
              <a:buFontTx/>
              <a:buNone/>
              <a:defRPr sz="6000" b="1">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2622412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thout guides - 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78141" y="3550696"/>
            <a:ext cx="7542610"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691756" y="3110154"/>
            <a:ext cx="7536656" cy="455049"/>
          </a:xfrm>
          <a:prstGeom prst="rect">
            <a:avLst/>
          </a:prstGeom>
          <a:noFill/>
        </p:spPr>
        <p:txBody>
          <a:bodyPr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91755" y="8825780"/>
            <a:ext cx="7528993"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691755" y="8329105"/>
            <a:ext cx="7537845"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8696187" y="3570128"/>
            <a:ext cx="15540037"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8696187" y="3110154"/>
            <a:ext cx="15540038"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8696187" y="12796679"/>
            <a:ext cx="15540038"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8696187" y="12332075"/>
            <a:ext cx="15540038"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4715629" y="3110154"/>
            <a:ext cx="7535264"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4715629" y="3574759"/>
            <a:ext cx="7535264"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4715629" y="8364237"/>
            <a:ext cx="7535264"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4713742" y="8828841"/>
            <a:ext cx="7539038"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4715629" y="15018123"/>
            <a:ext cx="7535264" cy="455049"/>
          </a:xfrm>
          <a:prstGeom prst="rect">
            <a:avLst/>
          </a:prstGeom>
          <a:noFill/>
        </p:spPr>
        <p:txBody>
          <a:bodyPr wrap="square" lIns="65304" tIns="65304" rIns="65304" bIns="65304" anchor="ctr" anchorCtr="0">
            <a:spAutoFit/>
          </a:bodyPr>
          <a:lstStyle>
            <a:lvl1pPr marL="0" indent="0" algn="ctr">
              <a:buNone/>
              <a:defRPr sz="21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4713742" y="15486960"/>
            <a:ext cx="7539038" cy="545148"/>
          </a:xfrm>
          <a:prstGeom prst="rect">
            <a:avLst/>
          </a:prstGeom>
        </p:spPr>
        <p:txBody>
          <a:bodyPr wrap="square" lIns="163258" tIns="163258" rIns="163258" bIns="163258">
            <a:spAutoFit/>
          </a:bodyPr>
          <a:lstStyle>
            <a:lvl1pPr marL="0" indent="0">
              <a:buNone/>
              <a:defRPr sz="1400">
                <a:solidFill>
                  <a:schemeClr val="accent5">
                    <a:lumMod val="50000"/>
                  </a:schemeClr>
                </a:solidFill>
                <a:latin typeface="Times New Roman" panose="02020603050405020304" pitchFamily="18" charset="0"/>
                <a:cs typeface="Times New Roman" panose="02020603050405020304" pitchFamily="18" charset="0"/>
              </a:defRPr>
            </a:lvl1pPr>
            <a:lvl2pPr marL="1061176" indent="-408145">
              <a:defRPr sz="1800">
                <a:latin typeface="Trebuchet MS" pitchFamily="34" charset="0"/>
              </a:defRPr>
            </a:lvl2pPr>
            <a:lvl3pPr marL="1469322" indent="-408145">
              <a:defRPr sz="1800">
                <a:latin typeface="Trebuchet MS" pitchFamily="34" charset="0"/>
              </a:defRPr>
            </a:lvl3pPr>
            <a:lvl4pPr marL="1918281" indent="-448960">
              <a:defRPr sz="1800">
                <a:latin typeface="Trebuchet MS" pitchFamily="34" charset="0"/>
              </a:defRPr>
            </a:lvl4pPr>
            <a:lvl5pPr marL="2244797" indent="-326516">
              <a:defRPr sz="1800">
                <a:latin typeface="Trebuchet MS" pitchFamily="34" charset="0"/>
              </a:defRPr>
            </a:lvl5pPr>
          </a:lstStyle>
          <a:p>
            <a:pPr lvl="0"/>
            <a:r>
              <a:rPr lang="en-US" dirty="0"/>
              <a:t>Enter your text here</a:t>
            </a:r>
          </a:p>
        </p:txBody>
      </p:sp>
      <p:sp>
        <p:nvSpPr>
          <p:cNvPr id="73" name="Text Placeholder 76"/>
          <p:cNvSpPr>
            <a:spLocks noGrp="1"/>
          </p:cNvSpPr>
          <p:nvPr>
            <p:ph type="body" sz="quarter" idx="161" hasCustomPrompt="1"/>
          </p:nvPr>
        </p:nvSpPr>
        <p:spPr>
          <a:xfrm>
            <a:off x="4406950" y="1366762"/>
            <a:ext cx="24109797" cy="766837"/>
          </a:xfrm>
          <a:prstGeom prst="rect">
            <a:avLst/>
          </a:prstGeom>
        </p:spPr>
        <p:txBody>
          <a:bodyPr>
            <a:normAutofit/>
          </a:bodyPr>
          <a:lstStyle>
            <a:lvl1pPr marL="0" indent="0" algn="ctr">
              <a:buFontTx/>
              <a:buNone/>
              <a:defRPr sz="44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4" name="Text Placeholder 76"/>
          <p:cNvSpPr>
            <a:spLocks noGrp="1"/>
          </p:cNvSpPr>
          <p:nvPr>
            <p:ph type="body" sz="quarter" idx="195" hasCustomPrompt="1"/>
          </p:nvPr>
        </p:nvSpPr>
        <p:spPr>
          <a:xfrm>
            <a:off x="4406950" y="2137990"/>
            <a:ext cx="24109797" cy="634555"/>
          </a:xfrm>
          <a:prstGeom prst="rect">
            <a:avLst/>
          </a:prstGeom>
        </p:spPr>
        <p:txBody>
          <a:bodyPr>
            <a:normAutofit/>
          </a:bodyPr>
          <a:lstStyle>
            <a:lvl1pPr marL="0" indent="0" algn="ctr">
              <a:buFontTx/>
              <a:buNone/>
              <a:defRPr sz="36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5" name="Text Placeholder 76"/>
          <p:cNvSpPr>
            <a:spLocks noGrp="1"/>
          </p:cNvSpPr>
          <p:nvPr>
            <p:ph type="body" sz="quarter" idx="196" hasCustomPrompt="1"/>
          </p:nvPr>
        </p:nvSpPr>
        <p:spPr>
          <a:xfrm>
            <a:off x="4406950" y="273839"/>
            <a:ext cx="24109797" cy="1092924"/>
          </a:xfrm>
          <a:prstGeom prst="rect">
            <a:avLst/>
          </a:prstGeom>
        </p:spPr>
        <p:txBody>
          <a:bodyPr>
            <a:normAutofit/>
          </a:bodyPr>
          <a:lstStyle>
            <a:lvl1pPr marL="0" indent="0" algn="ctr">
              <a:buFontTx/>
              <a:buNone/>
              <a:defRPr sz="6000" b="1">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
        <p:nvSpPr>
          <p:cNvPr id="31" name="TextBox 30"/>
          <p:cNvSpPr txBox="1"/>
          <p:nvPr userDrawn="1"/>
        </p:nvSpPr>
        <p:spPr>
          <a:xfrm>
            <a:off x="13908505" y="8181474"/>
            <a:ext cx="3224463" cy="307777"/>
          </a:xfrm>
          <a:prstGeom prst="rect">
            <a:avLst/>
          </a:prstGeom>
          <a:noFill/>
        </p:spPr>
        <p:txBody>
          <a:bodyPr wrap="square" rtlCol="0">
            <a:spAutoFit/>
          </a:bodyPr>
          <a:lstStyle/>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72801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6F65926-9619-F27F-C856-026DA78A396B}"/>
              </a:ext>
            </a:extLst>
          </p:cNvPr>
          <p:cNvSpPr/>
          <p:nvPr userDrawn="1"/>
        </p:nvSpPr>
        <p:spPr>
          <a:xfrm>
            <a:off x="0" y="18592800"/>
            <a:ext cx="32918400" cy="63023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9ED851D-2ACA-FD2C-B662-E3DFA319844A}"/>
              </a:ext>
            </a:extLst>
          </p:cNvPr>
          <p:cNvGrpSpPr/>
          <p:nvPr userDrawn="1"/>
        </p:nvGrpSpPr>
        <p:grpSpPr>
          <a:xfrm>
            <a:off x="0" y="0"/>
            <a:ext cx="32918400" cy="3108960"/>
            <a:chOff x="0" y="-1"/>
            <a:chExt cx="12192000" cy="1219223"/>
          </a:xfrm>
        </p:grpSpPr>
        <p:sp>
          <p:nvSpPr>
            <p:cNvPr id="7" name="Document 6">
              <a:extLst>
                <a:ext uri="{FF2B5EF4-FFF2-40B4-BE49-F238E27FC236}">
                  <a16:creationId xmlns:a16="http://schemas.microsoft.com/office/drawing/2014/main" id="{2AD3EBA9-0693-CB9C-F8F3-515C5023718A}"/>
                </a:ext>
              </a:extLst>
            </p:cNvPr>
            <p:cNvSpPr/>
            <p:nvPr/>
          </p:nvSpPr>
          <p:spPr>
            <a:xfrm>
              <a:off x="0" y="89065"/>
              <a:ext cx="12192000" cy="1130157"/>
            </a:xfrm>
            <a:prstGeom prst="flowChartDocument">
              <a:avLst/>
            </a:prstGeom>
            <a:gradFill>
              <a:gsLst>
                <a:gs pos="0">
                  <a:srgbClr val="A8854F"/>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a:extLst>
                <a:ext uri="{FF2B5EF4-FFF2-40B4-BE49-F238E27FC236}">
                  <a16:creationId xmlns:a16="http://schemas.microsoft.com/office/drawing/2014/main" id="{F48ACE8C-A88D-09F9-F8E6-2FF02F7336D3}"/>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53041885"/>
      </p:ext>
    </p:extLst>
  </p:cSld>
  <p:clrMap bg1="lt1" tx1="dk1" bg2="lt2" tx2="dk2" accent1="accent1" accent2="accent2" accent3="accent3" accent4="accent4" accent5="accent5" accent6="accent6" hlink="hlink" folHlink="folHlink"/>
  <p:sldLayoutIdLst>
    <p:sldLayoutId id="2147483662" r:id="rId1"/>
    <p:sldLayoutId id="2147483663" r:id="rId2"/>
  </p:sldLayoutIdLst>
  <p:txStyles>
    <p:titleStyle>
      <a:lvl1pPr algn="ctr" defTabSz="3134552" rtl="0" eaLnBrk="1" latinLnBrk="0" hangingPunct="1">
        <a:spcBef>
          <a:spcPct val="0"/>
        </a:spcBef>
        <a:buNone/>
        <a:defRPr sz="6300" kern="1200">
          <a:solidFill>
            <a:schemeClr val="bg1"/>
          </a:solidFill>
          <a:latin typeface="Trebuchet MS" pitchFamily="34" charset="0"/>
          <a:ea typeface="+mj-ea"/>
          <a:cs typeface="+mj-cs"/>
        </a:defRPr>
      </a:lvl1pPr>
    </p:titleStyle>
    <p:bodyStyle>
      <a:lvl1pPr marL="1175457" indent="-1175457" algn="l" defTabSz="3134552" rtl="0" eaLnBrk="1" latinLnBrk="0" hangingPunct="1">
        <a:spcBef>
          <a:spcPct val="20000"/>
        </a:spcBef>
        <a:buFont typeface="Arial" pitchFamily="34" charset="0"/>
        <a:buChar char="•"/>
        <a:defRPr sz="11000" kern="1200">
          <a:solidFill>
            <a:schemeClr val="tx1"/>
          </a:solidFill>
          <a:latin typeface="+mn-lt"/>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p:bodyStyle>
    <p:otherStyle>
      <a:defPPr>
        <a:defRPr lang="en-US"/>
      </a:defPPr>
      <a:lvl1pPr marL="0" algn="l" defTabSz="3134552" rtl="0" eaLnBrk="1" latinLnBrk="0" hangingPunct="1">
        <a:defRPr sz="6100" kern="1200">
          <a:solidFill>
            <a:schemeClr val="tx1"/>
          </a:solidFill>
          <a:latin typeface="+mn-lt"/>
          <a:ea typeface="+mn-ea"/>
          <a:cs typeface="+mn-cs"/>
        </a:defRPr>
      </a:lvl1pPr>
      <a:lvl2pPr marL="1567277" algn="l" defTabSz="3134552" rtl="0" eaLnBrk="1" latinLnBrk="0" hangingPunct="1">
        <a:defRPr sz="6100" kern="1200">
          <a:solidFill>
            <a:schemeClr val="tx1"/>
          </a:solidFill>
          <a:latin typeface="+mn-lt"/>
          <a:ea typeface="+mn-ea"/>
          <a:cs typeface="+mn-cs"/>
        </a:defRPr>
      </a:lvl2pPr>
      <a:lvl3pPr marL="3134552" algn="l" defTabSz="3134552" rtl="0" eaLnBrk="1" latinLnBrk="0" hangingPunct="1">
        <a:defRPr sz="6100" kern="1200">
          <a:solidFill>
            <a:schemeClr val="tx1"/>
          </a:solidFill>
          <a:latin typeface="+mn-lt"/>
          <a:ea typeface="+mn-ea"/>
          <a:cs typeface="+mn-cs"/>
        </a:defRPr>
      </a:lvl3pPr>
      <a:lvl4pPr marL="4701829" algn="l" defTabSz="3134552" rtl="0" eaLnBrk="1" latinLnBrk="0" hangingPunct="1">
        <a:defRPr sz="6100" kern="1200">
          <a:solidFill>
            <a:schemeClr val="tx1"/>
          </a:solidFill>
          <a:latin typeface="+mn-lt"/>
          <a:ea typeface="+mn-ea"/>
          <a:cs typeface="+mn-cs"/>
        </a:defRPr>
      </a:lvl4pPr>
      <a:lvl5pPr marL="6269105" algn="l" defTabSz="3134552" rtl="0" eaLnBrk="1" latinLnBrk="0" hangingPunct="1">
        <a:defRPr sz="6100" kern="1200">
          <a:solidFill>
            <a:schemeClr val="tx1"/>
          </a:solidFill>
          <a:latin typeface="+mn-lt"/>
          <a:ea typeface="+mn-ea"/>
          <a:cs typeface="+mn-cs"/>
        </a:defRPr>
      </a:lvl5pPr>
      <a:lvl6pPr marL="7836382" algn="l" defTabSz="3134552" rtl="0" eaLnBrk="1" latinLnBrk="0" hangingPunct="1">
        <a:defRPr sz="6100" kern="1200">
          <a:solidFill>
            <a:schemeClr val="tx1"/>
          </a:solidFill>
          <a:latin typeface="+mn-lt"/>
          <a:ea typeface="+mn-ea"/>
          <a:cs typeface="+mn-cs"/>
        </a:defRPr>
      </a:lvl6pPr>
      <a:lvl7pPr marL="9403659" algn="l" defTabSz="3134552" rtl="0" eaLnBrk="1" latinLnBrk="0" hangingPunct="1">
        <a:defRPr sz="6100" kern="1200">
          <a:solidFill>
            <a:schemeClr val="tx1"/>
          </a:solidFill>
          <a:latin typeface="+mn-lt"/>
          <a:ea typeface="+mn-ea"/>
          <a:cs typeface="+mn-cs"/>
        </a:defRPr>
      </a:lvl7pPr>
      <a:lvl8pPr marL="10970935" algn="l" defTabSz="3134552" rtl="0" eaLnBrk="1" latinLnBrk="0" hangingPunct="1">
        <a:defRPr sz="6100" kern="1200">
          <a:solidFill>
            <a:schemeClr val="tx1"/>
          </a:solidFill>
          <a:latin typeface="+mn-lt"/>
          <a:ea typeface="+mn-ea"/>
          <a:cs typeface="+mn-cs"/>
        </a:defRPr>
      </a:lvl8pPr>
      <a:lvl9pPr marL="12538212" algn="l" defTabSz="3134552" rtl="0" eaLnBrk="1" latinLnBrk="0" hangingPunct="1">
        <a:defRPr sz="6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703558"/>
      </p:ext>
    </p:extLst>
  </p:cSld>
  <p:clrMap bg1="lt1" tx1="dk1" bg2="lt2" tx2="dk2" accent1="accent1" accent2="accent2" accent3="accent3" accent4="accent4" accent5="accent5" accent6="accent6" hlink="hlink" folHlink="folHlink"/>
  <p:sldLayoutIdLst>
    <p:sldLayoutId id="2147483665" r:id="rId1"/>
    <p:sldLayoutId id="2147483666" r:id="rId2"/>
  </p:sldLayoutIdLst>
  <p:txStyles>
    <p:titleStyle>
      <a:lvl1pPr algn="ctr" defTabSz="3134552" rtl="0" eaLnBrk="1" latinLnBrk="0" hangingPunct="1">
        <a:spcBef>
          <a:spcPct val="0"/>
        </a:spcBef>
        <a:buNone/>
        <a:defRPr sz="6300" kern="1200">
          <a:solidFill>
            <a:schemeClr val="bg1"/>
          </a:solidFill>
          <a:latin typeface="Trebuchet MS" pitchFamily="34" charset="0"/>
          <a:ea typeface="+mj-ea"/>
          <a:cs typeface="+mj-cs"/>
        </a:defRPr>
      </a:lvl1pPr>
    </p:titleStyle>
    <p:bodyStyle>
      <a:lvl1pPr marL="1175457" indent="-1175457" algn="l" defTabSz="3134552" rtl="0" eaLnBrk="1" latinLnBrk="0" hangingPunct="1">
        <a:spcBef>
          <a:spcPct val="20000"/>
        </a:spcBef>
        <a:buFont typeface="Arial" pitchFamily="34" charset="0"/>
        <a:buChar char="•"/>
        <a:defRPr sz="11000" kern="1200">
          <a:solidFill>
            <a:schemeClr val="tx1"/>
          </a:solidFill>
          <a:latin typeface="+mn-lt"/>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p:bodyStyle>
    <p:otherStyle>
      <a:defPPr>
        <a:defRPr lang="en-US"/>
      </a:defPPr>
      <a:lvl1pPr marL="0" algn="l" defTabSz="3134552" rtl="0" eaLnBrk="1" latinLnBrk="0" hangingPunct="1">
        <a:defRPr sz="6100" kern="1200">
          <a:solidFill>
            <a:schemeClr val="tx1"/>
          </a:solidFill>
          <a:latin typeface="+mn-lt"/>
          <a:ea typeface="+mn-ea"/>
          <a:cs typeface="+mn-cs"/>
        </a:defRPr>
      </a:lvl1pPr>
      <a:lvl2pPr marL="1567277" algn="l" defTabSz="3134552" rtl="0" eaLnBrk="1" latinLnBrk="0" hangingPunct="1">
        <a:defRPr sz="6100" kern="1200">
          <a:solidFill>
            <a:schemeClr val="tx1"/>
          </a:solidFill>
          <a:latin typeface="+mn-lt"/>
          <a:ea typeface="+mn-ea"/>
          <a:cs typeface="+mn-cs"/>
        </a:defRPr>
      </a:lvl2pPr>
      <a:lvl3pPr marL="3134552" algn="l" defTabSz="3134552" rtl="0" eaLnBrk="1" latinLnBrk="0" hangingPunct="1">
        <a:defRPr sz="6100" kern="1200">
          <a:solidFill>
            <a:schemeClr val="tx1"/>
          </a:solidFill>
          <a:latin typeface="+mn-lt"/>
          <a:ea typeface="+mn-ea"/>
          <a:cs typeface="+mn-cs"/>
        </a:defRPr>
      </a:lvl3pPr>
      <a:lvl4pPr marL="4701829" algn="l" defTabSz="3134552" rtl="0" eaLnBrk="1" latinLnBrk="0" hangingPunct="1">
        <a:defRPr sz="6100" kern="1200">
          <a:solidFill>
            <a:schemeClr val="tx1"/>
          </a:solidFill>
          <a:latin typeface="+mn-lt"/>
          <a:ea typeface="+mn-ea"/>
          <a:cs typeface="+mn-cs"/>
        </a:defRPr>
      </a:lvl4pPr>
      <a:lvl5pPr marL="6269105" algn="l" defTabSz="3134552" rtl="0" eaLnBrk="1" latinLnBrk="0" hangingPunct="1">
        <a:defRPr sz="6100" kern="1200">
          <a:solidFill>
            <a:schemeClr val="tx1"/>
          </a:solidFill>
          <a:latin typeface="+mn-lt"/>
          <a:ea typeface="+mn-ea"/>
          <a:cs typeface="+mn-cs"/>
        </a:defRPr>
      </a:lvl5pPr>
      <a:lvl6pPr marL="7836382" algn="l" defTabSz="3134552" rtl="0" eaLnBrk="1" latinLnBrk="0" hangingPunct="1">
        <a:defRPr sz="6100" kern="1200">
          <a:solidFill>
            <a:schemeClr val="tx1"/>
          </a:solidFill>
          <a:latin typeface="+mn-lt"/>
          <a:ea typeface="+mn-ea"/>
          <a:cs typeface="+mn-cs"/>
        </a:defRPr>
      </a:lvl6pPr>
      <a:lvl7pPr marL="9403659" algn="l" defTabSz="3134552" rtl="0" eaLnBrk="1" latinLnBrk="0" hangingPunct="1">
        <a:defRPr sz="6100" kern="1200">
          <a:solidFill>
            <a:schemeClr val="tx1"/>
          </a:solidFill>
          <a:latin typeface="+mn-lt"/>
          <a:ea typeface="+mn-ea"/>
          <a:cs typeface="+mn-cs"/>
        </a:defRPr>
      </a:lvl7pPr>
      <a:lvl8pPr marL="10970935" algn="l" defTabSz="3134552" rtl="0" eaLnBrk="1" latinLnBrk="0" hangingPunct="1">
        <a:defRPr sz="6100" kern="1200">
          <a:solidFill>
            <a:schemeClr val="tx1"/>
          </a:solidFill>
          <a:latin typeface="+mn-lt"/>
          <a:ea typeface="+mn-ea"/>
          <a:cs typeface="+mn-cs"/>
        </a:defRPr>
      </a:lvl8pPr>
      <a:lvl9pPr marL="12538212" algn="l" defTabSz="3134552" rtl="0" eaLnBrk="1" latinLnBrk="0" hangingPunct="1">
        <a:defRPr sz="6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mailto:admorales@ci.laredo.tx.us"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B1146D-E1E3-404A-9A81-0FC2BAD735A8}"/>
              </a:ext>
            </a:extLst>
          </p:cNvPr>
          <p:cNvSpPr>
            <a:spLocks noGrp="1"/>
          </p:cNvSpPr>
          <p:nvPr/>
        </p:nvSpPr>
        <p:spPr>
          <a:xfrm>
            <a:off x="678141" y="4149307"/>
            <a:ext cx="7542610" cy="3593401"/>
          </a:xfrm>
        </p:spPr>
        <p:txBody>
          <a:bodyPr wrap="square"/>
          <a:lstStyle/>
          <a:p>
            <a:pPr>
              <a:lnSpc>
                <a:spcPct val="125000"/>
              </a:lnSpc>
              <a:spcAft>
                <a:spcPts val="1000"/>
              </a:spcAft>
            </a:pPr>
            <a:r>
              <a:rPr lang="en-US" sz="2000" i="1" dirty="0">
                <a:solidFill>
                  <a:srgbClr val="002158"/>
                </a:solidFill>
                <a:latin typeface="Arial"/>
              </a:rPr>
              <a:t>Hospital encounters involving suspected drug overdose and poisoning represent important opportunities for prevention and linkage to treatment. In Laredo, Texas, a medically underserved U.S.–Mexico border community, Laredo Public Health identified 401 suspected overdose/poisoning hospital encounters in 2025 through secondary review of syndromic surveillance data. Understanding documented hospital disposition patterns may support collaboration between public health and healthcare systems to strengthen post-overdose prevention efforts.</a:t>
            </a:r>
            <a:endParaRPr sz="2000" b="0" i="1" dirty="0">
              <a:solidFill>
                <a:srgbClr val="002158"/>
              </a:solidFill>
              <a:latin typeface="Arial"/>
            </a:endParaRPr>
          </a:p>
        </p:txBody>
      </p:sp>
      <p:sp>
        <p:nvSpPr>
          <p:cNvPr id="3" name="Text Placeholder 2">
            <a:extLst>
              <a:ext uri="{FF2B5EF4-FFF2-40B4-BE49-F238E27FC236}">
                <a16:creationId xmlns:a16="http://schemas.microsoft.com/office/drawing/2014/main" id="{7225331E-1B9F-4C41-971C-58F9DBF31402}"/>
              </a:ext>
            </a:extLst>
          </p:cNvPr>
          <p:cNvSpPr>
            <a:spLocks noGrp="1"/>
          </p:cNvSpPr>
          <p:nvPr>
            <p:ph type="body" sz="quarter" idx="11"/>
          </p:nvPr>
        </p:nvSpPr>
        <p:spPr>
          <a:xfrm>
            <a:off x="691756" y="3577513"/>
            <a:ext cx="7536656" cy="505855"/>
          </a:xfrm>
          <a:solidFill>
            <a:schemeClr val="accent5">
              <a:lumMod val="75000"/>
            </a:schemeClr>
          </a:solidFill>
        </p:spPr>
        <p:txBody>
          <a:bodyPr wrap="square"/>
          <a:lstStyle/>
          <a:p>
            <a:pPr>
              <a:lnSpc>
                <a:spcPct val="125000"/>
              </a:lnSpc>
              <a:spcAft>
                <a:spcPts val="1000"/>
              </a:spcAft>
            </a:pPr>
            <a:r>
              <a:rPr sz="2400" b="1" i="0" dirty="0">
                <a:latin typeface="Arial"/>
              </a:rPr>
              <a:t>INTRODUCTION OR ABSTRACT</a:t>
            </a:r>
            <a:endParaRPr lang="en-US" dirty="0"/>
          </a:p>
        </p:txBody>
      </p:sp>
      <p:sp>
        <p:nvSpPr>
          <p:cNvPr id="4" name="Text Placeholder 3">
            <a:extLst>
              <a:ext uri="{FF2B5EF4-FFF2-40B4-BE49-F238E27FC236}">
                <a16:creationId xmlns:a16="http://schemas.microsoft.com/office/drawing/2014/main" id="{F7A806DD-32C5-6468-978B-48A11DEB7222}"/>
              </a:ext>
            </a:extLst>
          </p:cNvPr>
          <p:cNvSpPr>
            <a:spLocks noGrp="1"/>
          </p:cNvSpPr>
          <p:nvPr/>
        </p:nvSpPr>
        <p:spPr>
          <a:xfrm>
            <a:off x="656768" y="8709880"/>
            <a:ext cx="7528993" cy="1531192"/>
          </a:xfrm>
        </p:spPr>
        <p:txBody>
          <a:bodyPr wrap="square"/>
          <a:lstStyle/>
          <a:p>
            <a:pPr>
              <a:lnSpc>
                <a:spcPct val="125000"/>
              </a:lnSpc>
              <a:spcAft>
                <a:spcPts val="1000"/>
              </a:spcAft>
            </a:pPr>
            <a:r>
              <a:rPr lang="en-US" sz="2000" i="1" dirty="0">
                <a:solidFill>
                  <a:srgbClr val="002158"/>
                </a:solidFill>
                <a:latin typeface="Arial"/>
              </a:rPr>
              <a:t>To examine hospital encounter characteristics, temporal patterns, documented intent, and discharge disposition among suspected drug overdose and poisoning encounters in Laredo, Texas, using ESSENCE syndromic surveillance data.</a:t>
            </a:r>
            <a:endParaRPr sz="2000" b="0" i="1" dirty="0">
              <a:solidFill>
                <a:srgbClr val="002158"/>
              </a:solidFill>
              <a:latin typeface="Arial"/>
            </a:endParaRPr>
          </a:p>
        </p:txBody>
      </p:sp>
      <p:sp>
        <p:nvSpPr>
          <p:cNvPr id="5" name="Text Placeholder 4">
            <a:extLst>
              <a:ext uri="{FF2B5EF4-FFF2-40B4-BE49-F238E27FC236}">
                <a16:creationId xmlns:a16="http://schemas.microsoft.com/office/drawing/2014/main" id="{3704546E-270A-7710-46EE-02D49C93B0AE}"/>
              </a:ext>
            </a:extLst>
          </p:cNvPr>
          <p:cNvSpPr>
            <a:spLocks noGrp="1"/>
          </p:cNvSpPr>
          <p:nvPr>
            <p:ph type="body" sz="quarter" idx="20"/>
          </p:nvPr>
        </p:nvSpPr>
        <p:spPr>
          <a:xfrm>
            <a:off x="691756" y="8062468"/>
            <a:ext cx="7537845" cy="516324"/>
          </a:xfrm>
          <a:solidFill>
            <a:schemeClr val="accent5">
              <a:lumMod val="75000"/>
            </a:schemeClr>
          </a:solidFill>
        </p:spPr>
        <p:txBody>
          <a:bodyPr wrap="square"/>
          <a:lstStyle/>
          <a:p>
            <a:pPr>
              <a:lnSpc>
                <a:spcPct val="125000"/>
              </a:lnSpc>
              <a:spcAft>
                <a:spcPts val="1000"/>
              </a:spcAft>
            </a:pPr>
            <a:r>
              <a:rPr sz="2400" b="1" i="0" dirty="0">
                <a:latin typeface="Arial"/>
              </a:rPr>
              <a:t>OBJECTIVES</a:t>
            </a:r>
            <a:endParaRPr lang="en-US" dirty="0"/>
          </a:p>
        </p:txBody>
      </p:sp>
      <p:sp>
        <p:nvSpPr>
          <p:cNvPr id="6" name="Text Placeholder 5">
            <a:extLst>
              <a:ext uri="{FF2B5EF4-FFF2-40B4-BE49-F238E27FC236}">
                <a16:creationId xmlns:a16="http://schemas.microsoft.com/office/drawing/2014/main" id="{22EEB3AB-8474-DBFE-F99D-0818749F814B}"/>
              </a:ext>
            </a:extLst>
          </p:cNvPr>
          <p:cNvSpPr>
            <a:spLocks noGrp="1"/>
          </p:cNvSpPr>
          <p:nvPr/>
        </p:nvSpPr>
        <p:spPr>
          <a:xfrm>
            <a:off x="8696187" y="4037488"/>
            <a:ext cx="15540037" cy="8129995"/>
          </a:xfrm>
        </p:spPr>
        <p:txBody>
          <a:bodyPr wrap="square"/>
          <a:lstStyle/>
          <a:p>
            <a:pPr>
              <a:lnSpc>
                <a:spcPct val="125000"/>
              </a:lnSpc>
              <a:spcAft>
                <a:spcPts val="1000"/>
              </a:spcAft>
            </a:pPr>
            <a:r>
              <a:rPr lang="en-US" sz="2000" b="1" i="1" dirty="0">
                <a:solidFill>
                  <a:srgbClr val="002158"/>
                </a:solidFill>
                <a:latin typeface="Arial"/>
              </a:rPr>
              <a:t>Study Design: </a:t>
            </a:r>
            <a:r>
              <a:rPr lang="en-US" sz="2000" i="1" dirty="0">
                <a:solidFill>
                  <a:srgbClr val="002158"/>
                </a:solidFill>
                <a:latin typeface="Arial"/>
              </a:rPr>
              <a:t>Retrospective, descriptive observational study.</a:t>
            </a:r>
          </a:p>
          <a:p>
            <a:pPr>
              <a:lnSpc>
                <a:spcPct val="125000"/>
              </a:lnSpc>
              <a:spcAft>
                <a:spcPts val="1000"/>
              </a:spcAft>
            </a:pPr>
            <a:r>
              <a:rPr lang="en-US" sz="2000" b="1" i="1" dirty="0">
                <a:solidFill>
                  <a:srgbClr val="002158"/>
                </a:solidFill>
                <a:latin typeface="Arial"/>
              </a:rPr>
              <a:t>Setting and Period: </a:t>
            </a:r>
            <a:r>
              <a:rPr lang="en-US" sz="2000" i="1" dirty="0">
                <a:solidFill>
                  <a:srgbClr val="002158"/>
                </a:solidFill>
                <a:latin typeface="Arial"/>
              </a:rPr>
              <a:t>Two hospitals in Laredo, Texas; January–December 2025.Data Source: ESSENCE syndromic surveillance data provided by the Laredo Public Health Epidemiology Department.</a:t>
            </a:r>
          </a:p>
          <a:p>
            <a:pPr>
              <a:lnSpc>
                <a:spcPct val="125000"/>
              </a:lnSpc>
              <a:spcAft>
                <a:spcPts val="1000"/>
              </a:spcAft>
            </a:pPr>
            <a:r>
              <a:rPr lang="en-US" sz="2000" b="1" i="1" dirty="0">
                <a:solidFill>
                  <a:srgbClr val="002158"/>
                </a:solidFill>
                <a:latin typeface="Arial"/>
              </a:rPr>
              <a:t>Sample Selection: </a:t>
            </a:r>
            <a:r>
              <a:rPr lang="en-US" sz="2000" i="1" dirty="0">
                <a:solidFill>
                  <a:srgbClr val="002158"/>
                </a:solidFill>
                <a:latin typeface="Arial"/>
              </a:rPr>
              <a:t>An initial 706 encounters were identified through existing CDC surveillance queries incorporating chief complaint and discharge diagnosis information. A single researcher manually reviewed all original chief complaints and retained 401 encounters (56.8%) meeting the study's suspected overdose/poisoning criteria.</a:t>
            </a:r>
          </a:p>
          <a:p>
            <a:pPr>
              <a:lnSpc>
                <a:spcPct val="125000"/>
              </a:lnSpc>
              <a:spcAft>
                <a:spcPts val="1000"/>
              </a:spcAft>
            </a:pPr>
            <a:r>
              <a:rPr lang="en-US" sz="2000" b="1" i="1" dirty="0">
                <a:solidFill>
                  <a:srgbClr val="002158"/>
                </a:solidFill>
                <a:latin typeface="Arial"/>
              </a:rPr>
              <a:t>Inclusion Criteria: </a:t>
            </a:r>
            <a:r>
              <a:rPr lang="en-US" sz="2000" i="1" dirty="0">
                <a:solidFill>
                  <a:srgbClr val="002158"/>
                </a:solidFill>
                <a:latin typeface="Arial"/>
              </a:rPr>
              <a:t>Current suspected overdose, poisoning, potentially excessive or unknown-quantity medication ingestion, or acute altered mental status/unresponsiveness associated with suspected substance exposure.</a:t>
            </a:r>
          </a:p>
          <a:p>
            <a:pPr>
              <a:lnSpc>
                <a:spcPct val="125000"/>
              </a:lnSpc>
              <a:spcAft>
                <a:spcPts val="1000"/>
              </a:spcAft>
            </a:pPr>
            <a:r>
              <a:rPr lang="en-US" sz="2000" b="1" i="1" dirty="0">
                <a:solidFill>
                  <a:srgbClr val="002158"/>
                </a:solidFill>
                <a:latin typeface="Arial"/>
              </a:rPr>
              <a:t>Analysis: </a:t>
            </a:r>
            <a:r>
              <a:rPr lang="en-US" sz="2000" i="1" dirty="0">
                <a:solidFill>
                  <a:srgbClr val="002158"/>
                </a:solidFill>
                <a:latin typeface="Arial"/>
              </a:rPr>
              <a:t>Descriptive statistics summarized demographics, monthly encounter counts, researcher-classified intent, and disposition outcomes. Intent was categorized as Accidental/Unintentional, Intentional/Self-Harm, or Not Stated/Unclear.</a:t>
            </a:r>
          </a:p>
          <a:p>
            <a:pPr>
              <a:lnSpc>
                <a:spcPct val="125000"/>
              </a:lnSpc>
              <a:spcAft>
                <a:spcPts val="1000"/>
              </a:spcAft>
            </a:pPr>
            <a:r>
              <a:rPr lang="en-US" sz="2000" b="1" i="1" dirty="0">
                <a:solidFill>
                  <a:srgbClr val="002158"/>
                </a:solidFill>
                <a:latin typeface="Arial"/>
              </a:rPr>
              <a:t>Denominators: </a:t>
            </a:r>
            <a:r>
              <a:rPr lang="en-US" sz="2000" i="1" dirty="0">
                <a:solidFill>
                  <a:srgbClr val="002158"/>
                </a:solidFill>
                <a:latin typeface="Arial"/>
              </a:rPr>
              <a:t>Overall percentages use 401 encounters unless a specific subgroup denominator is identified. Encounters, not unique patients, were the unit of analysis.</a:t>
            </a:r>
            <a:endParaRPr sz="2000" b="0" i="1" dirty="0">
              <a:solidFill>
                <a:srgbClr val="002158"/>
              </a:solidFill>
              <a:latin typeface="Arial"/>
            </a:endParaRPr>
          </a:p>
        </p:txBody>
      </p:sp>
      <p:sp>
        <p:nvSpPr>
          <p:cNvPr id="7" name="Text Placeholder 6">
            <a:extLst>
              <a:ext uri="{FF2B5EF4-FFF2-40B4-BE49-F238E27FC236}">
                <a16:creationId xmlns:a16="http://schemas.microsoft.com/office/drawing/2014/main" id="{8248B8B9-4E59-F617-5295-ED58B8097EFC}"/>
              </a:ext>
            </a:extLst>
          </p:cNvPr>
          <p:cNvSpPr>
            <a:spLocks noGrp="1"/>
          </p:cNvSpPr>
          <p:nvPr>
            <p:ph type="body" sz="quarter" idx="22"/>
          </p:nvPr>
        </p:nvSpPr>
        <p:spPr>
          <a:xfrm>
            <a:off x="8696187" y="3577514"/>
            <a:ext cx="15540038" cy="505854"/>
          </a:xfrm>
          <a:solidFill>
            <a:schemeClr val="accent5">
              <a:lumMod val="75000"/>
            </a:schemeClr>
          </a:solidFill>
        </p:spPr>
        <p:txBody>
          <a:bodyPr wrap="square"/>
          <a:lstStyle/>
          <a:p>
            <a:pPr>
              <a:lnSpc>
                <a:spcPct val="125000"/>
              </a:lnSpc>
              <a:spcAft>
                <a:spcPts val="1000"/>
              </a:spcAft>
            </a:pPr>
            <a:r>
              <a:rPr sz="2400" b="1" i="0" dirty="0">
                <a:latin typeface="Arial"/>
              </a:rPr>
              <a:t>MATERIALS &amp; METHODS</a:t>
            </a:r>
            <a:endParaRPr lang="en-US" dirty="0"/>
          </a:p>
        </p:txBody>
      </p:sp>
      <p:sp>
        <p:nvSpPr>
          <p:cNvPr id="8" name="Text Placeholder 7">
            <a:extLst>
              <a:ext uri="{FF2B5EF4-FFF2-40B4-BE49-F238E27FC236}">
                <a16:creationId xmlns:a16="http://schemas.microsoft.com/office/drawing/2014/main" id="{3BF628C1-755C-898B-7F34-EEC25F064960}"/>
              </a:ext>
            </a:extLst>
          </p:cNvPr>
          <p:cNvSpPr>
            <a:spLocks noGrp="1"/>
          </p:cNvSpPr>
          <p:nvPr/>
        </p:nvSpPr>
        <p:spPr>
          <a:xfrm>
            <a:off x="8687335" y="10263672"/>
            <a:ext cx="15540038" cy="1031707"/>
          </a:xfrm>
        </p:spPr>
        <p:txBody>
          <a:bodyPr wrap="square"/>
          <a:lstStyle/>
          <a:p>
            <a:pPr>
              <a:lnSpc>
                <a:spcPct val="125000"/>
              </a:lnSpc>
              <a:spcAft>
                <a:spcPts val="1000"/>
              </a:spcAft>
            </a:pPr>
            <a:r>
              <a:rPr lang="en-US" sz="3000" i="1" dirty="0">
                <a:solidFill>
                  <a:srgbClr val="002158"/>
                </a:solidFill>
                <a:latin typeface="Arial"/>
              </a:rPr>
              <a:t>66.1%265 of 401 suspected overdose/poisoning encounters were classified as discharged. </a:t>
            </a:r>
            <a:r>
              <a:rPr lang="en-US" sz="2000" i="1" dirty="0">
                <a:solidFill>
                  <a:srgbClr val="002158"/>
                </a:solidFill>
                <a:latin typeface="Arial"/>
              </a:rPr>
              <a:t>Existing syndromic surveillance data can help local public health departments begin informed conversations with healthcare partners about overdose prevention and continuity of care. </a:t>
            </a:r>
            <a:endParaRPr sz="2000" b="0" i="1" dirty="0">
              <a:solidFill>
                <a:srgbClr val="002158"/>
              </a:solidFill>
              <a:latin typeface="Arial"/>
            </a:endParaRPr>
          </a:p>
        </p:txBody>
      </p:sp>
      <p:sp>
        <p:nvSpPr>
          <p:cNvPr id="9" name="Text Placeholder 8">
            <a:extLst>
              <a:ext uri="{FF2B5EF4-FFF2-40B4-BE49-F238E27FC236}">
                <a16:creationId xmlns:a16="http://schemas.microsoft.com/office/drawing/2014/main" id="{30332601-8943-3202-381D-81336673DEAE}"/>
              </a:ext>
            </a:extLst>
          </p:cNvPr>
          <p:cNvSpPr>
            <a:spLocks noGrp="1"/>
          </p:cNvSpPr>
          <p:nvPr>
            <p:ph type="body" sz="quarter" idx="24"/>
          </p:nvPr>
        </p:nvSpPr>
        <p:spPr>
          <a:xfrm>
            <a:off x="8687335" y="9641768"/>
            <a:ext cx="15540038" cy="505854"/>
          </a:xfrm>
          <a:solidFill>
            <a:schemeClr val="accent5">
              <a:lumMod val="75000"/>
            </a:schemeClr>
          </a:solidFill>
        </p:spPr>
        <p:txBody>
          <a:bodyPr wrap="square"/>
          <a:lstStyle/>
          <a:p>
            <a:pPr>
              <a:lnSpc>
                <a:spcPct val="125000"/>
              </a:lnSpc>
              <a:spcAft>
                <a:spcPts val="1000"/>
              </a:spcAft>
            </a:pPr>
            <a:r>
              <a:rPr sz="2400" b="1" i="0" dirty="0">
                <a:latin typeface="Arial"/>
              </a:rPr>
              <a:t>RESULTS</a:t>
            </a:r>
            <a:endParaRPr lang="en-US" dirty="0"/>
          </a:p>
        </p:txBody>
      </p:sp>
      <p:sp>
        <p:nvSpPr>
          <p:cNvPr id="10" name="Text Placeholder 9">
            <a:extLst>
              <a:ext uri="{FF2B5EF4-FFF2-40B4-BE49-F238E27FC236}">
                <a16:creationId xmlns:a16="http://schemas.microsoft.com/office/drawing/2014/main" id="{85429FB0-3C8D-4CBD-7AA3-3ACBAC9F81AF}"/>
              </a:ext>
            </a:extLst>
          </p:cNvPr>
          <p:cNvSpPr>
            <a:spLocks noGrp="1"/>
          </p:cNvSpPr>
          <p:nvPr>
            <p:ph type="body" sz="quarter" idx="25"/>
          </p:nvPr>
        </p:nvSpPr>
        <p:spPr>
          <a:xfrm>
            <a:off x="24715629" y="3577514"/>
            <a:ext cx="7535264" cy="505854"/>
          </a:xfrm>
          <a:solidFill>
            <a:schemeClr val="accent5">
              <a:lumMod val="75000"/>
            </a:schemeClr>
          </a:solidFill>
        </p:spPr>
        <p:txBody>
          <a:bodyPr wrap="square"/>
          <a:lstStyle/>
          <a:p>
            <a:pPr>
              <a:lnSpc>
                <a:spcPct val="125000"/>
              </a:lnSpc>
              <a:spcAft>
                <a:spcPts val="1000"/>
              </a:spcAft>
            </a:pPr>
            <a:r>
              <a:rPr sz="2400" b="1" i="0" dirty="0">
                <a:latin typeface="Arial"/>
              </a:rPr>
              <a:t>CONCLUSIONS</a:t>
            </a:r>
            <a:endParaRPr lang="en-US" dirty="0"/>
          </a:p>
        </p:txBody>
      </p:sp>
      <p:sp>
        <p:nvSpPr>
          <p:cNvPr id="11" name="Text Placeholder 10">
            <a:extLst>
              <a:ext uri="{FF2B5EF4-FFF2-40B4-BE49-F238E27FC236}">
                <a16:creationId xmlns:a16="http://schemas.microsoft.com/office/drawing/2014/main" id="{F239988A-5A95-8F22-8EB8-EA2CD4DC55B8}"/>
              </a:ext>
            </a:extLst>
          </p:cNvPr>
          <p:cNvSpPr>
            <a:spLocks noGrp="1"/>
          </p:cNvSpPr>
          <p:nvPr/>
        </p:nvSpPr>
        <p:spPr>
          <a:xfrm>
            <a:off x="24715629" y="4042119"/>
            <a:ext cx="7535264" cy="3875463"/>
          </a:xfrm>
        </p:spPr>
        <p:txBody>
          <a:bodyPr wrap="square"/>
          <a:lstStyle/>
          <a:p>
            <a:pPr>
              <a:lnSpc>
                <a:spcPct val="125000"/>
              </a:lnSpc>
              <a:spcAft>
                <a:spcPts val="1000"/>
              </a:spcAft>
            </a:pPr>
            <a:r>
              <a:rPr lang="en-US" sz="2000" i="1" dirty="0">
                <a:solidFill>
                  <a:srgbClr val="002158"/>
                </a:solidFill>
                <a:latin typeface="Arial"/>
              </a:rPr>
              <a:t>Most selected suspected overdose/poisoning encounters were categorized as discharged; however, ESSENCE does not capture the full range of post-overdose care or discharge services. Findings provide a starting point for collaboration between Laredo Public Health and hospital partners to examine existing practices, identify potential prevention opportunities, and support technical assistance.</a:t>
            </a:r>
          </a:p>
          <a:p>
            <a:pPr>
              <a:lnSpc>
                <a:spcPct val="125000"/>
              </a:lnSpc>
              <a:spcAft>
                <a:spcPts val="1000"/>
              </a:spcAft>
            </a:pPr>
            <a:r>
              <a:rPr lang="en-US" sz="2000" i="1" dirty="0">
                <a:solidFill>
                  <a:srgbClr val="002158"/>
                </a:solidFill>
                <a:latin typeface="Arial"/>
              </a:rPr>
              <a:t>Limitation: Single-researcher chief complaint classification introduces potential misclassification, and 18.2% of encounters lacked a reported disposition.</a:t>
            </a:r>
            <a:endParaRPr sz="2000" b="0" i="1" dirty="0">
              <a:solidFill>
                <a:srgbClr val="002158"/>
              </a:solidFill>
              <a:latin typeface="Arial"/>
            </a:endParaRPr>
          </a:p>
        </p:txBody>
      </p:sp>
      <p:sp>
        <p:nvSpPr>
          <p:cNvPr id="12" name="Text Placeholder 11">
            <a:extLst>
              <a:ext uri="{FF2B5EF4-FFF2-40B4-BE49-F238E27FC236}">
                <a16:creationId xmlns:a16="http://schemas.microsoft.com/office/drawing/2014/main" id="{605D3834-52C6-B946-4E05-F98FE03D2B48}"/>
              </a:ext>
            </a:extLst>
          </p:cNvPr>
          <p:cNvSpPr>
            <a:spLocks noGrp="1"/>
          </p:cNvSpPr>
          <p:nvPr>
            <p:ph type="body" sz="quarter" idx="27"/>
          </p:nvPr>
        </p:nvSpPr>
        <p:spPr>
          <a:xfrm>
            <a:off x="24715629" y="8166525"/>
            <a:ext cx="7535264" cy="481192"/>
          </a:xfrm>
          <a:solidFill>
            <a:schemeClr val="accent5">
              <a:lumMod val="75000"/>
            </a:schemeClr>
          </a:solidFill>
        </p:spPr>
        <p:txBody>
          <a:bodyPr wrap="square"/>
          <a:lstStyle/>
          <a:p>
            <a:pPr>
              <a:lnSpc>
                <a:spcPct val="125000"/>
              </a:lnSpc>
              <a:spcAft>
                <a:spcPts val="1000"/>
              </a:spcAft>
            </a:pPr>
            <a:r>
              <a:rPr sz="2400" b="1" i="0" dirty="0">
                <a:latin typeface="Arial"/>
              </a:rPr>
              <a:t>REFERENCES</a:t>
            </a:r>
            <a:endParaRPr lang="en-US" dirty="0"/>
          </a:p>
        </p:txBody>
      </p:sp>
      <p:sp>
        <p:nvSpPr>
          <p:cNvPr id="13" name="Text Placeholder 12">
            <a:extLst>
              <a:ext uri="{FF2B5EF4-FFF2-40B4-BE49-F238E27FC236}">
                <a16:creationId xmlns:a16="http://schemas.microsoft.com/office/drawing/2014/main" id="{1196FCF1-851D-99EA-3D5E-C400EEBE3173}"/>
              </a:ext>
            </a:extLst>
          </p:cNvPr>
          <p:cNvSpPr>
            <a:spLocks noGrp="1"/>
          </p:cNvSpPr>
          <p:nvPr/>
        </p:nvSpPr>
        <p:spPr>
          <a:xfrm>
            <a:off x="24713742" y="8729985"/>
            <a:ext cx="7539038" cy="6024690"/>
          </a:xfrm>
        </p:spPr>
        <p:txBody>
          <a:bodyPr wrap="square"/>
          <a:lstStyle/>
          <a:p>
            <a:pPr>
              <a:lnSpc>
                <a:spcPct val="125000"/>
              </a:lnSpc>
              <a:spcAft>
                <a:spcPts val="1000"/>
              </a:spcAft>
            </a:pPr>
            <a:r>
              <a:rPr lang="en-US" sz="2000" i="1" dirty="0">
                <a:solidFill>
                  <a:srgbClr val="002158"/>
                </a:solidFill>
                <a:latin typeface="Arial"/>
              </a:rPr>
              <a:t>1. </a:t>
            </a:r>
            <a:r>
              <a:rPr lang="en-US" sz="2000" i="1" dirty="0" err="1">
                <a:solidFill>
                  <a:srgbClr val="002158"/>
                </a:solidFill>
                <a:latin typeface="Arial"/>
              </a:rPr>
              <a:t>Vivolo</a:t>
            </a:r>
            <a:r>
              <a:rPr lang="en-US" sz="2000" i="1" dirty="0">
                <a:solidFill>
                  <a:srgbClr val="002158"/>
                </a:solidFill>
                <a:latin typeface="Arial"/>
              </a:rPr>
              <a:t>-Kantor AM, et al. Vital signs: Trends in emergency department visits for suspected opioid overdoses—United States, July 2016–September 2017. *MMWR.* 2018;67:279–285. https://doi.org/10.15585/mmwr.mm6709e1</a:t>
            </a:r>
          </a:p>
          <a:p>
            <a:pPr>
              <a:lnSpc>
                <a:spcPct val="125000"/>
              </a:lnSpc>
              <a:spcAft>
                <a:spcPts val="1000"/>
              </a:spcAft>
            </a:pPr>
            <a:r>
              <a:rPr lang="en-US" sz="2000" i="1" dirty="0">
                <a:solidFill>
                  <a:srgbClr val="002158"/>
                </a:solidFill>
                <a:latin typeface="Arial"/>
              </a:rPr>
              <a:t>2. Holland KM, et al. Trends in US emergency department visits for mental health, overdose, and violence outcomes before and during the COVID-19 pandemic. *JAMA Psychiatry.* 2021;78(4):372–379. https://doi.org/10.1001/jamapsychiatry.2020.4402</a:t>
            </a:r>
          </a:p>
          <a:p>
            <a:pPr>
              <a:lnSpc>
                <a:spcPct val="125000"/>
              </a:lnSpc>
              <a:spcAft>
                <a:spcPts val="1000"/>
              </a:spcAft>
            </a:pPr>
            <a:r>
              <a:rPr lang="en-US" sz="2000" i="1" dirty="0">
                <a:solidFill>
                  <a:srgbClr val="002158"/>
                </a:solidFill>
                <a:latin typeface="Arial"/>
              </a:rPr>
              <a:t>3. Centers for Disease Control and Prevention. *PHIN Messaging Guide for Syndromic Surveillance.* Release 2.0. Appendix G: Discharge Disposition Value Set. 2015. https://www.cdc.gov/nssp/documents/guides/syndrsurvmessagguide2_messagingguide_phn.pdf</a:t>
            </a:r>
          </a:p>
          <a:p>
            <a:pPr>
              <a:lnSpc>
                <a:spcPct val="125000"/>
              </a:lnSpc>
              <a:spcAft>
                <a:spcPts val="1000"/>
              </a:spcAft>
            </a:pPr>
            <a:r>
              <a:rPr lang="en-US" sz="2000" i="1" dirty="0">
                <a:solidFill>
                  <a:srgbClr val="002158"/>
                </a:solidFill>
                <a:latin typeface="Arial"/>
              </a:rPr>
              <a:t>4. Syndromic Surveillance Knowledge Repository. *CDC All Drug Overdose v3 Parsed.* https://knowledgerepository.syndromicsurveillance.org/cdc-all-drug-overdose-v3-parsed</a:t>
            </a:r>
            <a:endParaRPr lang="en-US" sz="2000" b="0" i="1" dirty="0">
              <a:solidFill>
                <a:srgbClr val="002158"/>
              </a:solidFill>
              <a:latin typeface="Arial"/>
            </a:endParaRPr>
          </a:p>
        </p:txBody>
      </p:sp>
      <p:sp>
        <p:nvSpPr>
          <p:cNvPr id="14" name="Text Placeholder 13">
            <a:extLst>
              <a:ext uri="{FF2B5EF4-FFF2-40B4-BE49-F238E27FC236}">
                <a16:creationId xmlns:a16="http://schemas.microsoft.com/office/drawing/2014/main" id="{98FBB6B1-902F-CAD7-4E45-182443000850}"/>
              </a:ext>
            </a:extLst>
          </p:cNvPr>
          <p:cNvSpPr>
            <a:spLocks noGrp="1"/>
          </p:cNvSpPr>
          <p:nvPr>
            <p:ph type="body" sz="quarter" idx="29"/>
          </p:nvPr>
        </p:nvSpPr>
        <p:spPr>
          <a:xfrm>
            <a:off x="24715629" y="16303229"/>
            <a:ext cx="7535264" cy="547575"/>
          </a:xfrm>
          <a:solidFill>
            <a:schemeClr val="accent5">
              <a:lumMod val="75000"/>
            </a:schemeClr>
          </a:solidFill>
        </p:spPr>
        <p:txBody>
          <a:bodyPr wrap="square"/>
          <a:lstStyle/>
          <a:p>
            <a:pPr>
              <a:lnSpc>
                <a:spcPct val="125000"/>
              </a:lnSpc>
              <a:spcAft>
                <a:spcPts val="1000"/>
              </a:spcAft>
            </a:pPr>
            <a:r>
              <a:rPr sz="2400" b="1" i="0" dirty="0">
                <a:latin typeface="Arial"/>
              </a:rPr>
              <a:t>ACKNOWLEDGEMENTS</a:t>
            </a:r>
            <a:endParaRPr lang="en-US" dirty="0"/>
          </a:p>
        </p:txBody>
      </p:sp>
      <p:sp>
        <p:nvSpPr>
          <p:cNvPr id="15" name="Text Placeholder 14">
            <a:extLst>
              <a:ext uri="{FF2B5EF4-FFF2-40B4-BE49-F238E27FC236}">
                <a16:creationId xmlns:a16="http://schemas.microsoft.com/office/drawing/2014/main" id="{79164FAC-8B23-CCF8-7094-F5D9FA3DEE17}"/>
              </a:ext>
            </a:extLst>
          </p:cNvPr>
          <p:cNvSpPr>
            <a:spLocks noGrp="1"/>
          </p:cNvSpPr>
          <p:nvPr/>
        </p:nvSpPr>
        <p:spPr>
          <a:xfrm>
            <a:off x="24772300" y="16856958"/>
            <a:ext cx="7480479" cy="1722408"/>
          </a:xfrm>
        </p:spPr>
        <p:txBody>
          <a:bodyPr wrap="square"/>
          <a:lstStyle/>
          <a:p>
            <a:pPr>
              <a:lnSpc>
                <a:spcPct val="125000"/>
              </a:lnSpc>
              <a:spcAft>
                <a:spcPts val="1000"/>
              </a:spcAft>
            </a:pPr>
            <a:r>
              <a:rPr lang="en-US" sz="2000" i="1" dirty="0">
                <a:solidFill>
                  <a:srgbClr val="002158"/>
                </a:solidFill>
                <a:latin typeface="Arial"/>
              </a:rPr>
              <a:t>The author acknowledges the City of Laredo Public Health Department's Epidemiology Department for providing the ESSENCE surveillance dataset and supporting local overdose surveillance efforts.</a:t>
            </a:r>
          </a:p>
        </p:txBody>
      </p:sp>
      <p:sp>
        <p:nvSpPr>
          <p:cNvPr id="16" name="Text Placeholder 15">
            <a:extLst>
              <a:ext uri="{FF2B5EF4-FFF2-40B4-BE49-F238E27FC236}">
                <a16:creationId xmlns:a16="http://schemas.microsoft.com/office/drawing/2014/main" id="{BC905B46-30AB-BDB7-510F-D2D9822223AB}"/>
              </a:ext>
            </a:extLst>
          </p:cNvPr>
          <p:cNvSpPr>
            <a:spLocks noGrp="1"/>
          </p:cNvSpPr>
          <p:nvPr>
            <p:ph type="body" sz="quarter" idx="161"/>
          </p:nvPr>
        </p:nvSpPr>
        <p:spPr>
          <a:xfrm>
            <a:off x="3215581" y="1858710"/>
            <a:ext cx="24109797" cy="508281"/>
          </a:xfrm>
        </p:spPr>
        <p:txBody>
          <a:bodyPr wrap="square"/>
          <a:lstStyle/>
          <a:p>
            <a:pPr>
              <a:lnSpc>
                <a:spcPct val="125000"/>
              </a:lnSpc>
              <a:spcAft>
                <a:spcPts val="1000"/>
              </a:spcAft>
            </a:pPr>
            <a:r>
              <a:rPr lang="en-US" sz="2400" b="1" dirty="0">
                <a:latin typeface="Arial"/>
              </a:rPr>
              <a:t>Adriana D. Morales, MS, LCDC</a:t>
            </a:r>
            <a:endParaRPr lang="en-US" sz="2400" dirty="0"/>
          </a:p>
        </p:txBody>
      </p:sp>
      <p:sp>
        <p:nvSpPr>
          <p:cNvPr id="17" name="Text Placeholder 16">
            <a:extLst>
              <a:ext uri="{FF2B5EF4-FFF2-40B4-BE49-F238E27FC236}">
                <a16:creationId xmlns:a16="http://schemas.microsoft.com/office/drawing/2014/main" id="{B1880ABB-D75C-8F94-9C86-DC0C839157E1}"/>
              </a:ext>
            </a:extLst>
          </p:cNvPr>
          <p:cNvSpPr>
            <a:spLocks noGrp="1"/>
          </p:cNvSpPr>
          <p:nvPr>
            <p:ph type="body" sz="quarter" idx="195"/>
          </p:nvPr>
        </p:nvSpPr>
        <p:spPr>
          <a:xfrm>
            <a:off x="8848055" y="2277443"/>
            <a:ext cx="12844850" cy="408882"/>
          </a:xfrm>
        </p:spPr>
        <p:txBody>
          <a:bodyPr wrap="square"/>
          <a:lstStyle/>
          <a:p>
            <a:pPr>
              <a:lnSpc>
                <a:spcPct val="125000"/>
              </a:lnSpc>
              <a:spcAft>
                <a:spcPts val="1000"/>
              </a:spcAft>
            </a:pPr>
            <a:r>
              <a:rPr lang="en-US" sz="2200" dirty="0">
                <a:latin typeface="Arial"/>
              </a:rPr>
              <a:t>Health Opioid Abatement | City of Laredo Public Health Department </a:t>
            </a:r>
            <a:r>
              <a:rPr sz="2200" b="0" i="0" dirty="0">
                <a:latin typeface="Arial"/>
              </a:rPr>
              <a:t>·   APHA 2026, Abstract #</a:t>
            </a:r>
            <a:r>
              <a:rPr lang="en-US" sz="2200" dirty="0">
                <a:latin typeface="Arial"/>
              </a:rPr>
              <a:t>586221</a:t>
            </a:r>
            <a:endParaRPr lang="en-US" sz="2200" dirty="0"/>
          </a:p>
        </p:txBody>
      </p:sp>
      <p:sp>
        <p:nvSpPr>
          <p:cNvPr id="18" name="Text Placeholder 17">
            <a:extLst>
              <a:ext uri="{FF2B5EF4-FFF2-40B4-BE49-F238E27FC236}">
                <a16:creationId xmlns:a16="http://schemas.microsoft.com/office/drawing/2014/main" id="{28D0F047-5C33-8047-DA92-13E240348F5B}"/>
              </a:ext>
            </a:extLst>
          </p:cNvPr>
          <p:cNvSpPr>
            <a:spLocks noGrp="1"/>
          </p:cNvSpPr>
          <p:nvPr>
            <p:ph type="title" sz="quarter"/>
          </p:nvPr>
        </p:nvSpPr>
        <p:spPr>
          <a:xfrm>
            <a:off x="3529267" y="316732"/>
            <a:ext cx="23482426" cy="1332611"/>
          </a:xfrm>
        </p:spPr>
        <p:txBody>
          <a:bodyPr wrap="square"/>
          <a:lstStyle/>
          <a:p>
            <a:r>
              <a:rPr lang="en-US" sz="4500" b="1" dirty="0"/>
              <a:t>Using Syndromic Surveillance to Describe Hospital Disposition Patterns Following Suspected Overdose and Poisoning in a Medically Underserved Community</a:t>
            </a:r>
          </a:p>
        </p:txBody>
      </p:sp>
      <p:sp>
        <p:nvSpPr>
          <p:cNvPr id="19" name="Rounded Rectangle 18"/>
          <p:cNvSpPr/>
          <p:nvPr/>
        </p:nvSpPr>
        <p:spPr>
          <a:xfrm>
            <a:off x="384048" y="182880"/>
            <a:ext cx="2432304" cy="22494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Logo of the City of Laredo Public Health Department: a shield containing a white cross, above the words Laredo Public Health."/>
          <p:cNvPicPr>
            <a:picLocks noChangeAspect="1"/>
          </p:cNvPicPr>
          <p:nvPr/>
        </p:nvPicPr>
        <p:blipFill>
          <a:blip r:embed="rId2"/>
          <a:stretch>
            <a:fillRect/>
          </a:stretch>
        </p:blipFill>
        <p:spPr>
          <a:xfrm>
            <a:off x="457200" y="256032"/>
            <a:ext cx="2103120" cy="2103120"/>
          </a:xfrm>
          <a:prstGeom prst="rect">
            <a:avLst/>
          </a:prstGeom>
        </p:spPr>
      </p:pic>
      <p:pic>
        <p:nvPicPr>
          <p:cNvPr id="28" name="Picture 27">
            <a:extLst>
              <a:ext uri="{FF2B5EF4-FFF2-40B4-BE49-F238E27FC236}">
                <a16:creationId xmlns:a16="http://schemas.microsoft.com/office/drawing/2014/main" id="{014B6D2C-AE36-418F-97CD-750ADF973A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05957" y="12413413"/>
            <a:ext cx="7630268" cy="4442420"/>
          </a:xfrm>
          <a:prstGeom prst="rect">
            <a:avLst/>
          </a:prstGeom>
        </p:spPr>
      </p:pic>
      <p:pic>
        <p:nvPicPr>
          <p:cNvPr id="30" name="Picture 29">
            <a:extLst>
              <a:ext uri="{FF2B5EF4-FFF2-40B4-BE49-F238E27FC236}">
                <a16:creationId xmlns:a16="http://schemas.microsoft.com/office/drawing/2014/main" id="{7ADC5B52-13FA-422E-8B6C-94D504DAC8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09003" y="12384362"/>
            <a:ext cx="7678089" cy="4470262"/>
          </a:xfrm>
          <a:prstGeom prst="rect">
            <a:avLst/>
          </a:prstGeom>
        </p:spPr>
      </p:pic>
      <p:sp>
        <p:nvSpPr>
          <p:cNvPr id="31" name="Text Placeholder 12">
            <a:extLst>
              <a:ext uri="{FF2B5EF4-FFF2-40B4-BE49-F238E27FC236}">
                <a16:creationId xmlns:a16="http://schemas.microsoft.com/office/drawing/2014/main" id="{45F6A274-4F6A-4105-B22C-9095CA52E081}"/>
              </a:ext>
            </a:extLst>
          </p:cNvPr>
          <p:cNvSpPr>
            <a:spLocks noGrp="1"/>
          </p:cNvSpPr>
          <p:nvPr/>
        </p:nvSpPr>
        <p:spPr>
          <a:xfrm>
            <a:off x="8709003" y="11788600"/>
            <a:ext cx="7539038" cy="909280"/>
          </a:xfrm>
        </p:spPr>
        <p:txBody>
          <a:bodyPr wrap="square"/>
          <a:lstStyle/>
          <a:p>
            <a:pPr>
              <a:lnSpc>
                <a:spcPct val="125000"/>
              </a:lnSpc>
              <a:spcAft>
                <a:spcPts val="1000"/>
              </a:spcAft>
            </a:pPr>
            <a:r>
              <a:rPr lang="en-US" sz="2000" b="1" dirty="0">
                <a:solidFill>
                  <a:srgbClr val="002158"/>
                </a:solidFill>
                <a:latin typeface="Arial"/>
              </a:rPr>
              <a:t>Figure 1 — Temporal Distribution</a:t>
            </a:r>
            <a:endParaRPr sz="2000" b="1" dirty="0">
              <a:solidFill>
                <a:srgbClr val="002158"/>
              </a:solidFill>
              <a:latin typeface="Arial"/>
            </a:endParaRPr>
          </a:p>
        </p:txBody>
      </p:sp>
      <p:sp>
        <p:nvSpPr>
          <p:cNvPr id="32" name="Text Placeholder 12">
            <a:extLst>
              <a:ext uri="{FF2B5EF4-FFF2-40B4-BE49-F238E27FC236}">
                <a16:creationId xmlns:a16="http://schemas.microsoft.com/office/drawing/2014/main" id="{96B006F9-D625-4F56-8AB6-36CBB71CE4AF}"/>
              </a:ext>
            </a:extLst>
          </p:cNvPr>
          <p:cNvSpPr>
            <a:spLocks noGrp="1"/>
          </p:cNvSpPr>
          <p:nvPr/>
        </p:nvSpPr>
        <p:spPr>
          <a:xfrm>
            <a:off x="16605957" y="11782319"/>
            <a:ext cx="7539038" cy="909280"/>
          </a:xfrm>
        </p:spPr>
        <p:txBody>
          <a:bodyPr wrap="square"/>
          <a:lstStyle/>
          <a:p>
            <a:pPr>
              <a:lnSpc>
                <a:spcPct val="125000"/>
              </a:lnSpc>
              <a:spcAft>
                <a:spcPts val="1000"/>
              </a:spcAft>
            </a:pPr>
            <a:r>
              <a:rPr lang="en-US" sz="2000" b="1" dirty="0">
                <a:solidFill>
                  <a:srgbClr val="002158"/>
                </a:solidFill>
                <a:latin typeface="Arial"/>
              </a:rPr>
              <a:t>Figure 2 — Discharge Disposition</a:t>
            </a:r>
            <a:endParaRPr sz="2000" b="1" dirty="0">
              <a:solidFill>
                <a:srgbClr val="002158"/>
              </a:solidFill>
              <a:latin typeface="Arial"/>
            </a:endParaRPr>
          </a:p>
        </p:txBody>
      </p:sp>
      <p:sp>
        <p:nvSpPr>
          <p:cNvPr id="33" name="Text Placeholder 12">
            <a:extLst>
              <a:ext uri="{FF2B5EF4-FFF2-40B4-BE49-F238E27FC236}">
                <a16:creationId xmlns:a16="http://schemas.microsoft.com/office/drawing/2014/main" id="{89763B10-7267-48EF-9E75-A8B9A5E9FE6B}"/>
              </a:ext>
            </a:extLst>
          </p:cNvPr>
          <p:cNvSpPr>
            <a:spLocks noGrp="1"/>
          </p:cNvSpPr>
          <p:nvPr/>
        </p:nvSpPr>
        <p:spPr>
          <a:xfrm>
            <a:off x="8920766" y="16858546"/>
            <a:ext cx="7539038" cy="909280"/>
          </a:xfrm>
        </p:spPr>
        <p:txBody>
          <a:bodyPr wrap="square"/>
          <a:lstStyle/>
          <a:p>
            <a:pPr>
              <a:lnSpc>
                <a:spcPct val="125000"/>
              </a:lnSpc>
              <a:spcAft>
                <a:spcPts val="1000"/>
              </a:spcAft>
            </a:pPr>
            <a:r>
              <a:rPr lang="en-US" sz="2000" dirty="0">
                <a:solidFill>
                  <a:srgbClr val="002158"/>
                </a:solidFill>
                <a:latin typeface="Arial"/>
              </a:rPr>
              <a:t>Figure 1. Temporal distribution of suspected overdose/poisoning hospital encounters, January–December 2025 (N = 401). Monthly counts represent selected encounters, not overdose rates among all hospital encounters.</a:t>
            </a:r>
            <a:endParaRPr sz="2000" dirty="0">
              <a:solidFill>
                <a:srgbClr val="002158"/>
              </a:solidFill>
              <a:latin typeface="Arial"/>
            </a:endParaRPr>
          </a:p>
        </p:txBody>
      </p:sp>
      <p:sp>
        <p:nvSpPr>
          <p:cNvPr id="34" name="Text Placeholder 12">
            <a:extLst>
              <a:ext uri="{FF2B5EF4-FFF2-40B4-BE49-F238E27FC236}">
                <a16:creationId xmlns:a16="http://schemas.microsoft.com/office/drawing/2014/main" id="{25A2B020-9C9C-49D2-B082-628296A5114F}"/>
              </a:ext>
            </a:extLst>
          </p:cNvPr>
          <p:cNvSpPr>
            <a:spLocks noGrp="1"/>
          </p:cNvSpPr>
          <p:nvPr/>
        </p:nvSpPr>
        <p:spPr>
          <a:xfrm>
            <a:off x="16688335" y="16854624"/>
            <a:ext cx="7539038" cy="909280"/>
          </a:xfrm>
        </p:spPr>
        <p:txBody>
          <a:bodyPr wrap="square"/>
          <a:lstStyle/>
          <a:p>
            <a:pPr>
              <a:lnSpc>
                <a:spcPct val="125000"/>
              </a:lnSpc>
              <a:spcAft>
                <a:spcPts val="1000"/>
              </a:spcAft>
            </a:pPr>
            <a:r>
              <a:rPr lang="en-US" sz="2000" dirty="0">
                <a:solidFill>
                  <a:srgbClr val="002158"/>
                </a:solidFill>
                <a:latin typeface="Arial"/>
              </a:rPr>
              <a:t>Figure 2. Discharge disposition of selected hospital encounters (N = 401).66.1% discharged, 14.0% transferred, 1.7% admitted, and 18.2% not reported. Percentages are based on all 401 included encounters.</a:t>
            </a:r>
            <a:endParaRPr sz="2000" dirty="0">
              <a:solidFill>
                <a:srgbClr val="002158"/>
              </a:solidFill>
              <a:latin typeface="Arial"/>
            </a:endParaRPr>
          </a:p>
        </p:txBody>
      </p:sp>
      <p:sp>
        <p:nvSpPr>
          <p:cNvPr id="37" name="Text Placeholder 4">
            <a:extLst>
              <a:ext uri="{FF2B5EF4-FFF2-40B4-BE49-F238E27FC236}">
                <a16:creationId xmlns:a16="http://schemas.microsoft.com/office/drawing/2014/main" id="{F6174102-EB10-443A-8CF2-81B74137C059}"/>
              </a:ext>
            </a:extLst>
          </p:cNvPr>
          <p:cNvSpPr txBox="1">
            <a:spLocks/>
          </p:cNvSpPr>
          <p:nvPr/>
        </p:nvSpPr>
        <p:spPr>
          <a:xfrm>
            <a:off x="647916" y="10550113"/>
            <a:ext cx="7537845" cy="547575"/>
          </a:xfrm>
          <a:prstGeom prst="rect">
            <a:avLst/>
          </a:prstGeom>
          <a:solidFill>
            <a:schemeClr val="accent5">
              <a:lumMod val="75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18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pPr>
              <a:lnSpc>
                <a:spcPct val="125000"/>
              </a:lnSpc>
              <a:spcAft>
                <a:spcPts val="1000"/>
              </a:spcAft>
            </a:pPr>
            <a:r>
              <a:rPr lang="en-US" sz="2400" dirty="0">
                <a:latin typeface="Arial"/>
              </a:rPr>
              <a:t>ADDITIONAL KEY FINDINGS</a:t>
            </a:r>
            <a:endParaRPr lang="en-US" dirty="0"/>
          </a:p>
        </p:txBody>
      </p:sp>
      <p:sp>
        <p:nvSpPr>
          <p:cNvPr id="38" name="Text Placeholder 1">
            <a:extLst>
              <a:ext uri="{FF2B5EF4-FFF2-40B4-BE49-F238E27FC236}">
                <a16:creationId xmlns:a16="http://schemas.microsoft.com/office/drawing/2014/main" id="{5203A72F-A679-48D5-B95C-7F26E292577B}"/>
              </a:ext>
            </a:extLst>
          </p:cNvPr>
          <p:cNvSpPr>
            <a:spLocks noGrp="1"/>
          </p:cNvSpPr>
          <p:nvPr/>
        </p:nvSpPr>
        <p:spPr>
          <a:xfrm>
            <a:off x="649959" y="11212429"/>
            <a:ext cx="7542610" cy="5728155"/>
          </a:xfrm>
        </p:spPr>
        <p:txBody>
          <a:bodyPr wrap="square"/>
          <a:lstStyle/>
          <a:p>
            <a:pPr>
              <a:lnSpc>
                <a:spcPct val="125000"/>
              </a:lnSpc>
              <a:spcAft>
                <a:spcPts val="1000"/>
              </a:spcAft>
            </a:pPr>
            <a:r>
              <a:rPr lang="en-US" sz="2000" b="1" i="1" dirty="0">
                <a:solidFill>
                  <a:srgbClr val="002158"/>
                </a:solidFill>
                <a:latin typeface="Arial"/>
              </a:rPr>
              <a:t>Intent: </a:t>
            </a:r>
            <a:r>
              <a:rPr lang="en-US" sz="2000" i="1" dirty="0">
                <a:solidFill>
                  <a:srgbClr val="002158"/>
                </a:solidFill>
                <a:latin typeface="Arial"/>
              </a:rPr>
              <a:t>Not Stated/Unclear in 271 encounters (67.6%); Accidental/Unintentional in 89 (22.2%); Intentional/Self-Harm in 41 (10.2%).</a:t>
            </a:r>
          </a:p>
          <a:p>
            <a:pPr>
              <a:lnSpc>
                <a:spcPct val="125000"/>
              </a:lnSpc>
              <a:spcAft>
                <a:spcPts val="1000"/>
              </a:spcAft>
            </a:pPr>
            <a:r>
              <a:rPr lang="en-US" sz="2000" b="1" i="1" dirty="0">
                <a:solidFill>
                  <a:srgbClr val="002158"/>
                </a:solidFill>
                <a:latin typeface="Arial"/>
              </a:rPr>
              <a:t>Transfers: </a:t>
            </a:r>
            <a:r>
              <a:rPr lang="en-US" sz="2000" i="1" dirty="0">
                <a:solidFill>
                  <a:srgbClr val="002158"/>
                </a:solidFill>
                <a:latin typeface="Arial"/>
              </a:rPr>
              <a:t>Of 56 transferred encounters, 36 (64.3%) were coded as transfer to a psychiatric hospital or unit.</a:t>
            </a:r>
          </a:p>
          <a:p>
            <a:pPr>
              <a:lnSpc>
                <a:spcPct val="125000"/>
              </a:lnSpc>
              <a:spcAft>
                <a:spcPts val="1000"/>
              </a:spcAft>
            </a:pPr>
            <a:r>
              <a:rPr lang="en-US" sz="2000" b="1" i="1" dirty="0">
                <a:solidFill>
                  <a:srgbClr val="002158"/>
                </a:solidFill>
                <a:latin typeface="Arial"/>
              </a:rPr>
              <a:t>Intent and transfer: </a:t>
            </a:r>
            <a:r>
              <a:rPr lang="en-US" sz="2000" i="1" dirty="0">
                <a:solidFill>
                  <a:srgbClr val="002158"/>
                </a:solidFill>
                <a:latin typeface="Arial"/>
              </a:rPr>
              <a:t>Among 41 Intentional/Self-Harm encounters, 26 (63.4%) were transferred.</a:t>
            </a:r>
          </a:p>
          <a:p>
            <a:pPr>
              <a:lnSpc>
                <a:spcPct val="125000"/>
              </a:lnSpc>
              <a:spcAft>
                <a:spcPts val="1000"/>
              </a:spcAft>
            </a:pPr>
            <a:r>
              <a:rPr lang="en-US" sz="2000" b="1" i="1" dirty="0">
                <a:solidFill>
                  <a:srgbClr val="002158"/>
                </a:solidFill>
                <a:latin typeface="Arial"/>
              </a:rPr>
              <a:t>Additional discharge classifications: </a:t>
            </a:r>
            <a:r>
              <a:rPr lang="en-US" sz="2000" i="1" dirty="0">
                <a:solidFill>
                  <a:srgbClr val="002158"/>
                </a:solidFill>
                <a:latin typeface="Arial"/>
              </a:rPr>
              <a:t>Of 265 discharged encounters, 15 (5.7%) were coded as left against medical advice and 17 (6.4%) as discharged to law enforcement/custody.</a:t>
            </a:r>
          </a:p>
          <a:p>
            <a:pPr>
              <a:lnSpc>
                <a:spcPct val="125000"/>
              </a:lnSpc>
              <a:spcAft>
                <a:spcPts val="1000"/>
              </a:spcAft>
            </a:pPr>
            <a:r>
              <a:rPr lang="en-US" sz="2000" b="1" i="1" dirty="0">
                <a:solidFill>
                  <a:srgbClr val="002158"/>
                </a:solidFill>
                <a:latin typeface="Arial"/>
              </a:rPr>
              <a:t>Death disposition: </a:t>
            </a:r>
            <a:r>
              <a:rPr lang="en-US" sz="2000" i="1" dirty="0">
                <a:solidFill>
                  <a:srgbClr val="002158"/>
                </a:solidFill>
                <a:latin typeface="Arial"/>
              </a:rPr>
              <a:t>No encounters were coded with an in-hospital death disposition; this does not establish that no deaths occurred.</a:t>
            </a:r>
            <a:endParaRPr sz="2000" b="0" i="1" dirty="0">
              <a:solidFill>
                <a:srgbClr val="002158"/>
              </a:solidFill>
              <a:latin typeface="Arial"/>
            </a:endParaRPr>
          </a:p>
        </p:txBody>
      </p:sp>
      <p:sp>
        <p:nvSpPr>
          <p:cNvPr id="42" name="Text Placeholder 13">
            <a:extLst>
              <a:ext uri="{FF2B5EF4-FFF2-40B4-BE49-F238E27FC236}">
                <a16:creationId xmlns:a16="http://schemas.microsoft.com/office/drawing/2014/main" id="{83BCD205-8BA0-48C6-9549-95265CCA738E}"/>
              </a:ext>
            </a:extLst>
          </p:cNvPr>
          <p:cNvSpPr txBox="1">
            <a:spLocks/>
          </p:cNvSpPr>
          <p:nvPr/>
        </p:nvSpPr>
        <p:spPr>
          <a:xfrm>
            <a:off x="649206" y="16871982"/>
            <a:ext cx="7535264" cy="547575"/>
          </a:xfrm>
          <a:prstGeom prst="rect">
            <a:avLst/>
          </a:prstGeom>
          <a:solidFill>
            <a:schemeClr val="accent5">
              <a:lumMod val="75000"/>
            </a:schemeClr>
          </a:solidFill>
        </p:spPr>
        <p:txBody>
          <a:bodyPr wrap="square" lIns="65304" tIns="65304" rIns="65304" bIns="65304" anchor="t" anchorCtr="0">
            <a:spAutoFit/>
          </a:bodyPr>
          <a:lstStyle>
            <a:lvl1pPr marL="0" indent="0" algn="ctr" defTabSz="3134552" rtl="0" eaLnBrk="1" latinLnBrk="0" hangingPunct="1">
              <a:spcBef>
                <a:spcPct val="20000"/>
              </a:spcBef>
              <a:buFont typeface="Arial" pitchFamily="34" charset="0"/>
              <a:buNone/>
              <a:defRPr sz="1800" b="1" u="none" kern="1200" baseline="0">
                <a:solidFill>
                  <a:schemeClr val="bg1"/>
                </a:solidFill>
                <a:latin typeface="Century Gothic" panose="020B0502020202020204" pitchFamily="34" charset="0"/>
                <a:ea typeface="+mn-ea"/>
                <a:cs typeface="+mn-cs"/>
              </a:defRPr>
            </a:lvl1pPr>
            <a:lvl2pPr marL="2546824" indent="-979547" algn="l" defTabSz="3134552" rtl="0" eaLnBrk="1" latinLnBrk="0" hangingPunct="1">
              <a:spcBef>
                <a:spcPct val="20000"/>
              </a:spcBef>
              <a:buFont typeface="Arial" pitchFamily="34" charset="0"/>
              <a:buChar char="–"/>
              <a:defRPr sz="9600" kern="1200">
                <a:solidFill>
                  <a:schemeClr val="tx1"/>
                </a:solidFill>
                <a:latin typeface="+mn-lt"/>
                <a:ea typeface="+mn-ea"/>
                <a:cs typeface="+mn-cs"/>
              </a:defRPr>
            </a:lvl2pPr>
            <a:lvl3pPr marL="3918191" indent="-783639" algn="l" defTabSz="3134552" rtl="0" eaLnBrk="1" latinLnBrk="0" hangingPunct="1">
              <a:spcBef>
                <a:spcPct val="20000"/>
              </a:spcBef>
              <a:buFont typeface="Arial" pitchFamily="34" charset="0"/>
              <a:buChar char="•"/>
              <a:defRPr sz="8300" kern="1200">
                <a:solidFill>
                  <a:schemeClr val="tx1"/>
                </a:solidFill>
                <a:latin typeface="+mn-lt"/>
                <a:ea typeface="+mn-ea"/>
                <a:cs typeface="+mn-cs"/>
              </a:defRPr>
            </a:lvl3pPr>
            <a:lvl4pPr marL="5485468"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4pPr>
            <a:lvl5pPr marL="7052744"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5pPr>
            <a:lvl6pPr marL="8620020"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6pPr>
            <a:lvl7pPr marL="10187296"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7pPr>
            <a:lvl8pPr marL="11754573"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8pPr>
            <a:lvl9pPr marL="13321849" indent="-783639" algn="l" defTabSz="3134552" rtl="0" eaLnBrk="1" latinLnBrk="0" hangingPunct="1">
              <a:spcBef>
                <a:spcPct val="20000"/>
              </a:spcBef>
              <a:buFont typeface="Arial" pitchFamily="34" charset="0"/>
              <a:buChar char="•"/>
              <a:defRPr sz="6900" kern="1200">
                <a:solidFill>
                  <a:schemeClr val="tx1"/>
                </a:solidFill>
                <a:latin typeface="+mn-lt"/>
                <a:ea typeface="+mn-ea"/>
                <a:cs typeface="+mn-cs"/>
              </a:defRPr>
            </a:lvl9pPr>
          </a:lstStyle>
          <a:p>
            <a:pPr>
              <a:lnSpc>
                <a:spcPct val="125000"/>
              </a:lnSpc>
              <a:spcAft>
                <a:spcPts val="1000"/>
              </a:spcAft>
            </a:pPr>
            <a:r>
              <a:rPr lang="en-US" sz="2400" dirty="0">
                <a:latin typeface="Arial"/>
              </a:rPr>
              <a:t>CONTACT</a:t>
            </a:r>
            <a:endParaRPr lang="en-US" dirty="0"/>
          </a:p>
        </p:txBody>
      </p:sp>
      <p:sp>
        <p:nvSpPr>
          <p:cNvPr id="43" name="Text Placeholder 14">
            <a:extLst>
              <a:ext uri="{FF2B5EF4-FFF2-40B4-BE49-F238E27FC236}">
                <a16:creationId xmlns:a16="http://schemas.microsoft.com/office/drawing/2014/main" id="{0B0079A0-C9E8-481A-8BFC-90AB2505A1D8}"/>
              </a:ext>
            </a:extLst>
          </p:cNvPr>
          <p:cNvSpPr>
            <a:spLocks noGrp="1"/>
          </p:cNvSpPr>
          <p:nvPr/>
        </p:nvSpPr>
        <p:spPr>
          <a:xfrm>
            <a:off x="608270" y="17367581"/>
            <a:ext cx="7480479" cy="1015336"/>
          </a:xfrm>
        </p:spPr>
        <p:txBody>
          <a:bodyPr wrap="square"/>
          <a:lstStyle/>
          <a:p>
            <a:pPr>
              <a:lnSpc>
                <a:spcPct val="125000"/>
              </a:lnSpc>
              <a:spcAft>
                <a:spcPts val="1000"/>
              </a:spcAft>
            </a:pPr>
            <a:r>
              <a:rPr lang="en-US" sz="2000" i="1" dirty="0">
                <a:solidFill>
                  <a:srgbClr val="002158"/>
                </a:solidFill>
                <a:latin typeface="Arial"/>
              </a:rPr>
              <a:t>Contact email: </a:t>
            </a:r>
            <a:r>
              <a:rPr lang="en-US" sz="2000" i="1" dirty="0">
                <a:solidFill>
                  <a:srgbClr val="002158"/>
                </a:solidFill>
                <a:latin typeface="Arial"/>
                <a:hlinkClick r:id="rId5"/>
              </a:rPr>
              <a:t>admorales@ci.laredo.tx.us</a:t>
            </a:r>
            <a:endParaRPr lang="en-US" sz="2000" i="1" dirty="0">
              <a:solidFill>
                <a:srgbClr val="002158"/>
              </a:solidFill>
              <a:latin typeface="Arial"/>
            </a:endParaRPr>
          </a:p>
          <a:p>
            <a:pPr>
              <a:lnSpc>
                <a:spcPct val="125000"/>
              </a:lnSpc>
              <a:spcAft>
                <a:spcPts val="1000"/>
              </a:spcAft>
            </a:pPr>
            <a:r>
              <a:rPr lang="en-US" sz="2000" i="1" dirty="0">
                <a:solidFill>
                  <a:srgbClr val="002158"/>
                </a:solidFill>
                <a:latin typeface="Arial"/>
              </a:rPr>
              <a:t>Full Research Report: Available through QR code</a:t>
            </a:r>
          </a:p>
        </p:txBody>
      </p:sp>
    </p:spTree>
    <p:extLst>
      <p:ext uri="{BB962C8B-B14F-4D97-AF65-F5344CB8AC3E}">
        <p14:creationId xmlns:p14="http://schemas.microsoft.com/office/powerpoint/2010/main" val="3070667370"/>
      </p:ext>
    </p:extLst>
  </p:cSld>
  <p:clrMapOvr>
    <a:masterClrMapping/>
  </p:clrMapOvr>
</p:sld>
</file>

<file path=ppt/theme/theme1.xml><?xml version="1.0" encoding="utf-8"?>
<a:theme xmlns:a="http://schemas.openxmlformats.org/drawingml/2006/main" name="42x72 template">
  <a:themeElements>
    <a:clrScheme name="Office">
      <a:dk1>
        <a:sysClr val="windowText" lastClr="000000"/>
      </a:dk1>
      <a:lt1>
        <a:sysClr val="window" lastClr="FFFFFF"/>
      </a:lt1>
      <a:dk2>
        <a:srgbClr val="002158"/>
      </a:dk2>
      <a:lt2>
        <a:srgbClr val="E5E6EB"/>
      </a:lt2>
      <a:accent1>
        <a:srgbClr val="1A3761"/>
      </a:accent1>
      <a:accent2>
        <a:srgbClr val="CDA97A"/>
      </a:accent2>
      <a:accent3>
        <a:srgbClr val="1A3761"/>
      </a:accent3>
      <a:accent4>
        <a:srgbClr val="CDA97A"/>
      </a:accent4>
      <a:accent5>
        <a:srgbClr val="1A3761"/>
      </a:accent5>
      <a:accent6>
        <a:srgbClr val="1A3761"/>
      </a:accent6>
      <a:hlink>
        <a:srgbClr val="002158"/>
      </a:hlink>
      <a:folHlink>
        <a:srgbClr val="00215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2158">
                <a:alpha val="38000"/>
              </a:srgbClr>
            </a:outerShdw>
          </a:effectLst>
        </a:effectStyle>
        <a:effectStyle>
          <a:effectLst>
            <a:outerShdw blurRad="40000" dist="23000" dir="5400000" rotWithShape="0">
              <a:srgbClr val="002158">
                <a:alpha val="35000"/>
              </a:srgbClr>
            </a:outerShdw>
          </a:effectLst>
        </a:effectStyle>
        <a:effectStyle>
          <a:effectLst>
            <a:outerShdw blurRad="40000" dist="23000" dir="5400000" rotWithShape="0">
              <a:srgbClr val="002158">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002158"/>
      </a:dk2>
      <a:lt2>
        <a:srgbClr val="E5E6EB"/>
      </a:lt2>
      <a:accent1>
        <a:srgbClr val="1A3761"/>
      </a:accent1>
      <a:accent2>
        <a:srgbClr val="CDA97A"/>
      </a:accent2>
      <a:accent3>
        <a:srgbClr val="1A3761"/>
      </a:accent3>
      <a:accent4>
        <a:srgbClr val="CDA97A"/>
      </a:accent4>
      <a:accent5>
        <a:srgbClr val="1A3761"/>
      </a:accent5>
      <a:accent6>
        <a:srgbClr val="1A3761"/>
      </a:accent6>
      <a:hlink>
        <a:srgbClr val="002158"/>
      </a:hlink>
      <a:folHlink>
        <a:srgbClr val="00215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2158">
                <a:alpha val="38000"/>
              </a:srgbClr>
            </a:outerShdw>
          </a:effectLst>
        </a:effectStyle>
        <a:effectStyle>
          <a:effectLst>
            <a:outerShdw blurRad="40000" dist="23000" dir="5400000" rotWithShape="0">
              <a:srgbClr val="002158">
                <a:alpha val="35000"/>
              </a:srgbClr>
            </a:outerShdw>
          </a:effectLst>
        </a:effectStyle>
        <a:effectStyle>
          <a:effectLst>
            <a:outerShdw blurRad="40000" dist="23000" dir="5400000" rotWithShape="0">
              <a:srgbClr val="002158">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2158"/>
      </a:dk2>
      <a:lt2>
        <a:srgbClr val="E5E6EB"/>
      </a:lt2>
      <a:accent1>
        <a:srgbClr val="1A3761"/>
      </a:accent1>
      <a:accent2>
        <a:srgbClr val="CDA97A"/>
      </a:accent2>
      <a:accent3>
        <a:srgbClr val="1A3761"/>
      </a:accent3>
      <a:accent4>
        <a:srgbClr val="1A3761"/>
      </a:accent4>
      <a:accent5>
        <a:srgbClr val="1A3761"/>
      </a:accent5>
      <a:accent6>
        <a:srgbClr val="CDA97A"/>
      </a:accent6>
      <a:hlink>
        <a:srgbClr val="1A3761"/>
      </a:hlink>
      <a:folHlink>
        <a:srgbClr val="00215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2158">
                <a:alpha val="38000"/>
              </a:srgbClr>
            </a:outerShdw>
          </a:effectLst>
        </a:effectStyle>
        <a:effectStyle>
          <a:effectLst>
            <a:outerShdw blurRad="40000" dist="23000" dir="5400000" rotWithShape="0">
              <a:srgbClr val="002158">
                <a:alpha val="35000"/>
              </a:srgbClr>
            </a:outerShdw>
          </a:effectLst>
        </a:effectStyle>
        <a:effectStyle>
          <a:effectLst>
            <a:outerShdw blurRad="40000" dist="23000" dir="5400000" rotWithShape="0">
              <a:srgbClr val="002158">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PosterPresentations.com-42x72-Template</Template>
  <TotalTime>839</TotalTime>
  <Words>885</Words>
  <Application>Microsoft Office PowerPoint</Application>
  <PresentationFormat>Custom</PresentationFormat>
  <Paragraphs>39</Paragraphs>
  <Slides>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Calibri</vt:lpstr>
      <vt:lpstr>Century Gothic</vt:lpstr>
      <vt:lpstr>Times New Roman</vt:lpstr>
      <vt:lpstr>Trebuchet MS</vt:lpstr>
      <vt:lpstr>42x72 template</vt:lpstr>
      <vt:lpstr>Without guides</vt:lpstr>
      <vt:lpstr>Using Syndromic Surveillance to Describe Hospital Disposition Patterns Following Suspected Overdose and Poisoning in a Medically Underserved Community</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42x72 PowerPoint Presentation</dc:title>
  <dc:subject>Research poster presentation template</dc:subject>
  <dc:creator>PosterPresentations.com</dc:creator>
  <cp:keywords>42x72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Angel J. Montes</cp:lastModifiedBy>
  <cp:revision>60</cp:revision>
  <dcterms:created xsi:type="dcterms:W3CDTF">2012-02-07T00:41:31Z</dcterms:created>
  <dcterms:modified xsi:type="dcterms:W3CDTF">2026-10-27T17:58:28Z</dcterms:modified>
  <cp:category>Research poster templates</cp:category>
</cp:coreProperties>
</file>